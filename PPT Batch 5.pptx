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3"/>
  </p:notesMasterIdLst>
  <p:handoutMasterIdLst>
    <p:handoutMasterId r:id="rId24"/>
  </p:handoutMasterIdLst>
  <p:sldIdLst>
    <p:sldId id="342" r:id="rId2"/>
    <p:sldId id="259" r:id="rId3"/>
    <p:sldId id="384" r:id="rId4"/>
    <p:sldId id="386" r:id="rId5"/>
    <p:sldId id="393" r:id="rId6"/>
    <p:sldId id="373" r:id="rId7"/>
    <p:sldId id="392" r:id="rId8"/>
    <p:sldId id="388" r:id="rId9"/>
    <p:sldId id="416" r:id="rId10"/>
    <p:sldId id="398" r:id="rId11"/>
    <p:sldId id="418" r:id="rId12"/>
    <p:sldId id="404" r:id="rId13"/>
    <p:sldId id="350" r:id="rId14"/>
    <p:sldId id="419" r:id="rId15"/>
    <p:sldId id="420" r:id="rId16"/>
    <p:sldId id="425" r:id="rId17"/>
    <p:sldId id="421" r:id="rId18"/>
    <p:sldId id="422" r:id="rId19"/>
    <p:sldId id="423" r:id="rId20"/>
    <p:sldId id="379" r:id="rId21"/>
    <p:sldId id="42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6600"/>
    <a:srgbClr val="3E6822"/>
    <a:srgbClr val="69A83E"/>
    <a:srgbClr val="CEDDC9"/>
    <a:srgbClr val="EBF1E9"/>
    <a:srgbClr val="5F9838"/>
    <a:srgbClr val="598F35"/>
    <a:srgbClr val="5791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59" autoAdjust="0"/>
    <p:restoredTop sz="94615" autoAdjust="0"/>
  </p:normalViewPr>
  <p:slideViewPr>
    <p:cSldViewPr snapToGrid="0">
      <p:cViewPr varScale="1">
        <p:scale>
          <a:sx n="78" d="100"/>
          <a:sy n="78" d="100"/>
        </p:scale>
        <p:origin x="917" y="62"/>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A23138B-D433-809D-ECE2-38892705D2E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A14C1E34-2032-5CB5-BA30-4D69B4489B2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E1DC46-39A4-4C14-AF81-0259B9A3E6E8}" type="datetimeFigureOut">
              <a:rPr lang="en-IN" smtClean="0"/>
              <a:t>30-11-2025</a:t>
            </a:fld>
            <a:endParaRPr lang="en-IN"/>
          </a:p>
        </p:txBody>
      </p:sp>
      <p:sp>
        <p:nvSpPr>
          <p:cNvPr id="4" name="Footer Placeholder 3">
            <a:extLst>
              <a:ext uri="{FF2B5EF4-FFF2-40B4-BE49-F238E27FC236}">
                <a16:creationId xmlns:a16="http://schemas.microsoft.com/office/drawing/2014/main" id="{76354697-2A58-E40E-8372-CB9E971630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F84CF585-694C-4F61-FF45-29EACE76ED7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625A82D-7783-40AE-8A40-60CBEE2F37D9}" type="slidenum">
              <a:rPr lang="en-IN" smtClean="0"/>
              <a:t>‹#›</a:t>
            </a:fld>
            <a:endParaRPr lang="en-IN"/>
          </a:p>
        </p:txBody>
      </p:sp>
    </p:spTree>
    <p:extLst>
      <p:ext uri="{BB962C8B-B14F-4D97-AF65-F5344CB8AC3E}">
        <p14:creationId xmlns:p14="http://schemas.microsoft.com/office/powerpoint/2010/main" val="1798198433"/>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C47C9E-4665-4E33-98F6-83BEDCEB0F74}" type="datetimeFigureOut">
              <a:rPr lang="en-US" smtClean="0"/>
              <a:pPr/>
              <a:t>11/30/2025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7B599D-1D5B-4EC3-A8A1-C8A1F6EF0C70}" type="slidenum">
              <a:rPr lang="en-US" smtClean="0"/>
              <a:pPr/>
              <a:t>‹#›</a:t>
            </a:fld>
            <a:endParaRPr lang="en-US"/>
          </a:p>
        </p:txBody>
      </p:sp>
    </p:spTree>
    <p:extLst>
      <p:ext uri="{BB962C8B-B14F-4D97-AF65-F5344CB8AC3E}">
        <p14:creationId xmlns:p14="http://schemas.microsoft.com/office/powerpoint/2010/main" val="1335145673"/>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100" dirty="0"/>
          </a:p>
        </p:txBody>
      </p:sp>
      <p:sp>
        <p:nvSpPr>
          <p:cNvPr id="4" name="Slide Number Placeholder 3"/>
          <p:cNvSpPr>
            <a:spLocks noGrp="1"/>
          </p:cNvSpPr>
          <p:nvPr>
            <p:ph type="sldNum" sz="quarter" idx="5"/>
          </p:nvPr>
        </p:nvSpPr>
        <p:spPr/>
        <p:txBody>
          <a:bodyPr/>
          <a:lstStyle/>
          <a:p>
            <a:fld id="{0D7B599D-1D5B-4EC3-A8A1-C8A1F6EF0C70}" type="slidenum">
              <a:rPr lang="en-US" smtClean="0"/>
              <a:pPr/>
              <a:t>2</a:t>
            </a:fld>
            <a:endParaRPr lang="en-US"/>
          </a:p>
        </p:txBody>
      </p:sp>
      <p:sp>
        <p:nvSpPr>
          <p:cNvPr id="5" name="Footer Placeholder 4">
            <a:extLst>
              <a:ext uri="{FF2B5EF4-FFF2-40B4-BE49-F238E27FC236}">
                <a16:creationId xmlns:a16="http://schemas.microsoft.com/office/drawing/2014/main" id="{DDB910ED-5B0E-098F-DD43-BF14DC9DEB03}"/>
              </a:ext>
            </a:extLst>
          </p:cNvPr>
          <p:cNvSpPr>
            <a:spLocks noGrp="1"/>
          </p:cNvSpPr>
          <p:nvPr>
            <p:ph type="ftr" sz="quarter" idx="4"/>
          </p:nvPr>
        </p:nvSpPr>
        <p:spPr/>
        <p:txBody>
          <a:bodyPr/>
          <a:lstStyle/>
          <a:p>
            <a:endParaRPr lang="en-US"/>
          </a:p>
        </p:txBody>
      </p:sp>
      <p:sp>
        <p:nvSpPr>
          <p:cNvPr id="6" name="Header Placeholder 5">
            <a:extLst>
              <a:ext uri="{FF2B5EF4-FFF2-40B4-BE49-F238E27FC236}">
                <a16:creationId xmlns:a16="http://schemas.microsoft.com/office/drawing/2014/main" id="{997561FE-E6F9-5E34-E41A-5888ADE3FDFA}"/>
              </a:ext>
            </a:extLst>
          </p:cNvPr>
          <p:cNvSpPr>
            <a:spLocks noGrp="1"/>
          </p:cNvSpPr>
          <p:nvPr>
            <p:ph type="hdr" sz="quarter"/>
          </p:nvPr>
        </p:nvSpPr>
        <p:spPr/>
        <p:txBody>
          <a:bodyPr/>
          <a:lstStyle/>
          <a:p>
            <a:endParaRPr lang="en-US"/>
          </a:p>
        </p:txBody>
      </p:sp>
    </p:spTree>
    <p:extLst>
      <p:ext uri="{BB962C8B-B14F-4D97-AF65-F5344CB8AC3E}">
        <p14:creationId xmlns:p14="http://schemas.microsoft.com/office/powerpoint/2010/main" val="27307165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9D5623E-A03C-43D5-AF92-9CD87997A196}"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03DE9A-DE9E-4F9F-8A08-837CC26C1739}" type="slidenum">
              <a:rPr lang="en-US" smtClean="0"/>
              <a:pPr/>
              <a:t>‹#›</a:t>
            </a:fld>
            <a:endParaRPr lang="en-US"/>
          </a:p>
        </p:txBody>
      </p:sp>
    </p:spTree>
    <p:extLst>
      <p:ext uri="{BB962C8B-B14F-4D97-AF65-F5344CB8AC3E}">
        <p14:creationId xmlns:p14="http://schemas.microsoft.com/office/powerpoint/2010/main" val="2138865952"/>
      </p:ext>
    </p:extLst>
  </p:cSld>
  <p:clrMapOvr>
    <a:masterClrMapping/>
  </p:clrMapOvr>
  <p:transition spd="med">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D5623E-A03C-43D5-AF92-9CD87997A196}"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03DE9A-DE9E-4F9F-8A08-837CC26C1739}" type="slidenum">
              <a:rPr lang="en-US" smtClean="0"/>
              <a:pPr/>
              <a:t>‹#›</a:t>
            </a:fld>
            <a:endParaRPr lang="en-US"/>
          </a:p>
        </p:txBody>
      </p:sp>
    </p:spTree>
    <p:extLst>
      <p:ext uri="{BB962C8B-B14F-4D97-AF65-F5344CB8AC3E}">
        <p14:creationId xmlns:p14="http://schemas.microsoft.com/office/powerpoint/2010/main" val="2355873852"/>
      </p:ext>
    </p:extLst>
  </p:cSld>
  <p:clrMapOvr>
    <a:masterClrMapping/>
  </p:clrMapOvr>
  <p:transition spd="med">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D5623E-A03C-43D5-AF92-9CD87997A196}"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03DE9A-DE9E-4F9F-8A08-837CC26C1739}" type="slidenum">
              <a:rPr lang="en-US" smtClean="0"/>
              <a:pPr/>
              <a:t>‹#›</a:t>
            </a:fld>
            <a:endParaRPr lang="en-US"/>
          </a:p>
        </p:txBody>
      </p:sp>
    </p:spTree>
    <p:extLst>
      <p:ext uri="{BB962C8B-B14F-4D97-AF65-F5344CB8AC3E}">
        <p14:creationId xmlns:p14="http://schemas.microsoft.com/office/powerpoint/2010/main" val="2085122084"/>
      </p:ext>
    </p:extLst>
  </p:cSld>
  <p:clrMapOvr>
    <a:masterClrMapping/>
  </p:clrMapOvr>
  <p:transition spd="med">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9D5623E-A03C-43D5-AF92-9CD87997A196}" type="datetimeFigureOut">
              <a:rPr lang="en-US" smtClean="0"/>
              <a:pPr/>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03DE9A-DE9E-4F9F-8A08-837CC26C1739}" type="slidenum">
              <a:rPr lang="en-US" smtClean="0"/>
              <a:pPr/>
              <a:t>‹#›</a:t>
            </a:fld>
            <a:endParaRPr lang="en-US"/>
          </a:p>
        </p:txBody>
      </p:sp>
    </p:spTree>
    <p:extLst>
      <p:ext uri="{BB962C8B-B14F-4D97-AF65-F5344CB8AC3E}">
        <p14:creationId xmlns:p14="http://schemas.microsoft.com/office/powerpoint/2010/main" val="1755372489"/>
      </p:ext>
    </p:extLst>
  </p:cSld>
  <p:clrMapOvr>
    <a:masterClrMapping/>
  </p:clrMapOvr>
  <p:transition spd="med">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9D5623E-A03C-43D5-AF92-9CD87997A196}" type="datetimeFigureOut">
              <a:rPr lang="en-US" smtClean="0"/>
              <a:pPr/>
              <a:t>11/30/2025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03DE9A-DE9E-4F9F-8A08-837CC26C1739}" type="slidenum">
              <a:rPr lang="en-US" smtClean="0"/>
              <a:pPr/>
              <a:t>‹#›</a:t>
            </a:fld>
            <a:endParaRPr lang="en-US"/>
          </a:p>
        </p:txBody>
      </p:sp>
    </p:spTree>
    <p:extLst>
      <p:ext uri="{BB962C8B-B14F-4D97-AF65-F5344CB8AC3E}">
        <p14:creationId xmlns:p14="http://schemas.microsoft.com/office/powerpoint/2010/main" val="2905051717"/>
      </p:ext>
    </p:extLst>
  </p:cSld>
  <p:clrMapOvr>
    <a:masterClrMapping/>
  </p:clrMapOvr>
  <p:transition spd="med">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9D5623E-A03C-43D5-AF92-9CD87997A196}" type="datetimeFigureOut">
              <a:rPr lang="en-US" smtClean="0"/>
              <a:pPr/>
              <a:t>11/30/2025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03DE9A-DE9E-4F9F-8A08-837CC26C1739}" type="slidenum">
              <a:rPr lang="en-US" smtClean="0"/>
              <a:pPr/>
              <a:t>‹#›</a:t>
            </a:fld>
            <a:endParaRPr lang="en-US"/>
          </a:p>
        </p:txBody>
      </p:sp>
    </p:spTree>
    <p:extLst>
      <p:ext uri="{BB962C8B-B14F-4D97-AF65-F5344CB8AC3E}">
        <p14:creationId xmlns:p14="http://schemas.microsoft.com/office/powerpoint/2010/main" val="3986079271"/>
      </p:ext>
    </p:extLst>
  </p:cSld>
  <p:clrMapOvr>
    <a:masterClrMapping/>
  </p:clrMapOvr>
  <p:transition spd="med">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D5623E-A03C-43D5-AF92-9CD87997A196}" type="datetimeFigureOut">
              <a:rPr lang="en-US" smtClean="0"/>
              <a:pPr/>
              <a:t>11/30/2025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03DE9A-DE9E-4F9F-8A08-837CC26C1739}" type="slidenum">
              <a:rPr lang="en-US" smtClean="0"/>
              <a:pPr/>
              <a:t>‹#›</a:t>
            </a:fld>
            <a:endParaRPr lang="en-US"/>
          </a:p>
        </p:txBody>
      </p:sp>
    </p:spTree>
    <p:extLst>
      <p:ext uri="{BB962C8B-B14F-4D97-AF65-F5344CB8AC3E}">
        <p14:creationId xmlns:p14="http://schemas.microsoft.com/office/powerpoint/2010/main" val="2665462555"/>
      </p:ext>
    </p:extLst>
  </p:cSld>
  <p:clrMapOvr>
    <a:masterClrMapping/>
  </p:clrMapOvr>
  <p:transition spd="med">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9D5623E-A03C-43D5-AF92-9CD87997A196}" type="datetimeFigureOut">
              <a:rPr lang="en-US" smtClean="0"/>
              <a:pPr/>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03DE9A-DE9E-4F9F-8A08-837CC26C1739}" type="slidenum">
              <a:rPr lang="en-US" smtClean="0"/>
              <a:pPr/>
              <a:t>‹#›</a:t>
            </a:fld>
            <a:endParaRPr lang="en-US"/>
          </a:p>
        </p:txBody>
      </p:sp>
    </p:spTree>
    <p:extLst>
      <p:ext uri="{BB962C8B-B14F-4D97-AF65-F5344CB8AC3E}">
        <p14:creationId xmlns:p14="http://schemas.microsoft.com/office/powerpoint/2010/main" val="1468379242"/>
      </p:ext>
    </p:extLst>
  </p:cSld>
  <p:clrMapOvr>
    <a:masterClrMapping/>
  </p:clrMapOvr>
  <p:transition spd="med">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9D5623E-A03C-43D5-AF92-9CD87997A196}" type="datetimeFigureOut">
              <a:rPr lang="en-US" smtClean="0"/>
              <a:pPr/>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03DE9A-DE9E-4F9F-8A08-837CC26C1739}" type="slidenum">
              <a:rPr lang="en-US" smtClean="0"/>
              <a:pPr/>
              <a:t>‹#›</a:t>
            </a:fld>
            <a:endParaRPr lang="en-US"/>
          </a:p>
        </p:txBody>
      </p:sp>
    </p:spTree>
    <p:extLst>
      <p:ext uri="{BB962C8B-B14F-4D97-AF65-F5344CB8AC3E}">
        <p14:creationId xmlns:p14="http://schemas.microsoft.com/office/powerpoint/2010/main" val="197106333"/>
      </p:ext>
    </p:extLst>
  </p:cSld>
  <p:clrMapOvr>
    <a:masterClrMapping/>
  </p:clrMapOvr>
  <p:transition spd="med">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D5623E-A03C-43D5-AF92-9CD87997A196}"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03DE9A-DE9E-4F9F-8A08-837CC26C1739}" type="slidenum">
              <a:rPr lang="en-US" smtClean="0"/>
              <a:pPr/>
              <a:t>‹#›</a:t>
            </a:fld>
            <a:endParaRPr lang="en-US"/>
          </a:p>
        </p:txBody>
      </p:sp>
    </p:spTree>
    <p:extLst>
      <p:ext uri="{BB962C8B-B14F-4D97-AF65-F5344CB8AC3E}">
        <p14:creationId xmlns:p14="http://schemas.microsoft.com/office/powerpoint/2010/main" val="1632200425"/>
      </p:ext>
    </p:extLst>
  </p:cSld>
  <p:clrMapOvr>
    <a:masterClrMapping/>
  </p:clrMapOvr>
  <p:transition spd="med">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D5623E-A03C-43D5-AF92-9CD87997A196}" type="datetimeFigureOut">
              <a:rPr lang="en-US" smtClean="0"/>
              <a:pPr/>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03DE9A-DE9E-4F9F-8A08-837CC26C1739}" type="slidenum">
              <a:rPr lang="en-US" smtClean="0"/>
              <a:pPr/>
              <a:t>‹#›</a:t>
            </a:fld>
            <a:endParaRPr lang="en-US"/>
          </a:p>
        </p:txBody>
      </p:sp>
    </p:spTree>
    <p:extLst>
      <p:ext uri="{BB962C8B-B14F-4D97-AF65-F5344CB8AC3E}">
        <p14:creationId xmlns:p14="http://schemas.microsoft.com/office/powerpoint/2010/main" val="3437719409"/>
      </p:ext>
    </p:extLst>
  </p:cSld>
  <p:clrMapOvr>
    <a:masterClrMapping/>
  </p:clrMapOvr>
  <p:transition spd="med">
    <p:pul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D5623E-A03C-43D5-AF92-9CD87997A196}" type="datetimeFigureOut">
              <a:rPr lang="en-US" smtClean="0"/>
              <a:pPr/>
              <a:t>11/30/2025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03DE9A-DE9E-4F9F-8A08-837CC26C1739}" type="slidenum">
              <a:rPr lang="en-US" smtClean="0"/>
              <a:pPr/>
              <a:t>‹#›</a:t>
            </a:fld>
            <a:endParaRPr lang="en-US"/>
          </a:p>
        </p:txBody>
      </p:sp>
    </p:spTree>
    <p:extLst>
      <p:ext uri="{BB962C8B-B14F-4D97-AF65-F5344CB8AC3E}">
        <p14:creationId xmlns:p14="http://schemas.microsoft.com/office/powerpoint/2010/main" val="309070236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med">
    <p:pull/>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6.jp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4.jpg"/><Relationship Id="rId4" Type="http://schemas.openxmlformats.org/officeDocument/2006/relationships/image" Target="../media/image13.jp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662" y="18662"/>
            <a:ext cx="12192000" cy="6858000"/>
          </a:xfrm>
          <a:prstGeom prst="rect">
            <a:avLst/>
          </a:prstGeom>
          <a:solidFill>
            <a:schemeClr val="accent1">
              <a:lumMod val="40000"/>
              <a:lumOff val="60000"/>
            </a:schemeClr>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IN" dirty="0">
              <a:latin typeface="Times New Roman" panose="02020603050405020304" pitchFamily="18" charset="0"/>
              <a:cs typeface="Times New Roman" panose="02020603050405020304" pitchFamily="18" charset="0"/>
            </a:endParaRPr>
          </a:p>
        </p:txBody>
      </p:sp>
      <p:sp>
        <p:nvSpPr>
          <p:cNvPr id="15363" name="TextBox 5"/>
          <p:cNvSpPr txBox="1">
            <a:spLocks noChangeArrowheads="1"/>
          </p:cNvSpPr>
          <p:nvPr/>
        </p:nvSpPr>
        <p:spPr bwMode="auto">
          <a:xfrm>
            <a:off x="5096429" y="6431990"/>
            <a:ext cx="24563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dirty="0">
                <a:latin typeface="Times New Roman" panose="02020603050405020304" pitchFamily="18" charset="0"/>
                <a:cs typeface="Times New Roman" panose="02020603050405020304" pitchFamily="18" charset="0"/>
              </a:rPr>
              <a:t>www.eastpoint.ac.in</a:t>
            </a:r>
          </a:p>
        </p:txBody>
      </p:sp>
      <p:pic>
        <p:nvPicPr>
          <p:cNvPr id="10" name="Picture Placeholder 8"/>
          <p:cNvPicPr>
            <a:picLocks noChangeAspect="1"/>
          </p:cNvPicPr>
          <p:nvPr/>
        </p:nvPicPr>
        <p:blipFill>
          <a:blip r:embed="rId2">
            <a:extLst>
              <a:ext uri="{28A0092B-C50C-407E-A947-70E740481C1C}">
                <a14:useLocalDpi xmlns:a14="http://schemas.microsoft.com/office/drawing/2010/main" val="0"/>
              </a:ext>
            </a:extLst>
          </a:blip>
          <a:srcRect l="25592" r="25592"/>
          <a:stretch/>
        </p:blipFill>
        <p:spPr>
          <a:xfrm>
            <a:off x="6324600" y="848260"/>
            <a:ext cx="5867400" cy="6009740"/>
          </a:xfrm>
          <a:custGeom>
            <a:avLst/>
            <a:gdLst>
              <a:gd name="connsiteX0" fmla="*/ 5919758 w 5919758"/>
              <a:gd name="connsiteY0" fmla="*/ 0 h 5825419"/>
              <a:gd name="connsiteX1" fmla="*/ 5919758 w 5919758"/>
              <a:gd name="connsiteY1" fmla="*/ 5825419 h 5825419"/>
              <a:gd name="connsiteX2" fmla="*/ 1120273 w 5919758"/>
              <a:gd name="connsiteY2" fmla="*/ 5825419 h 5825419"/>
              <a:gd name="connsiteX3" fmla="*/ 0 w 5919758"/>
              <a:gd name="connsiteY3" fmla="*/ 1588036 h 5825419"/>
            </a:gdLst>
            <a:ahLst/>
            <a:cxnLst>
              <a:cxn ang="0">
                <a:pos x="connsiteX0" y="connsiteY0"/>
              </a:cxn>
              <a:cxn ang="0">
                <a:pos x="connsiteX1" y="connsiteY1"/>
              </a:cxn>
              <a:cxn ang="0">
                <a:pos x="connsiteX2" y="connsiteY2"/>
              </a:cxn>
              <a:cxn ang="0">
                <a:pos x="connsiteX3" y="connsiteY3"/>
              </a:cxn>
            </a:cxnLst>
            <a:rect l="l" t="t" r="r" b="b"/>
            <a:pathLst>
              <a:path w="5919758" h="5825419">
                <a:moveTo>
                  <a:pt x="5919758" y="0"/>
                </a:moveTo>
                <a:lnTo>
                  <a:pt x="5919758" y="5825419"/>
                </a:lnTo>
                <a:lnTo>
                  <a:pt x="1120273" y="5825419"/>
                </a:lnTo>
                <a:lnTo>
                  <a:pt x="0" y="1588036"/>
                </a:lnTo>
                <a:close/>
              </a:path>
            </a:pathLst>
          </a:custGeom>
        </p:spPr>
      </p:pic>
      <p:sp>
        <p:nvSpPr>
          <p:cNvPr id="11" name="Title 6"/>
          <p:cNvSpPr>
            <a:spLocks noGrp="1"/>
          </p:cNvSpPr>
          <p:nvPr>
            <p:ph type="ctrTitle"/>
          </p:nvPr>
        </p:nvSpPr>
        <p:spPr>
          <a:xfrm>
            <a:off x="358996" y="5710275"/>
            <a:ext cx="5117179" cy="762000"/>
          </a:xfrm>
        </p:spPr>
        <p:txBody>
          <a:bodyPr>
            <a:normAutofit/>
          </a:bodyPr>
          <a:lstStyle/>
          <a:p>
            <a:pPr algn="l">
              <a:defRPr/>
            </a:pPr>
            <a:r>
              <a:rPr lang="en-US" sz="2400" i="1" dirty="0">
                <a:latin typeface="Times New Roman" panose="02020603050405020304" pitchFamily="18" charset="0"/>
                <a:cs typeface="Times New Roman" panose="02020603050405020304" pitchFamily="18" charset="0"/>
              </a:rPr>
              <a:t>Department of</a:t>
            </a:r>
            <a:br>
              <a:rPr lang="en-US" sz="2400" i="1" dirty="0">
                <a:latin typeface="Times New Roman" panose="02020603050405020304" pitchFamily="18" charset="0"/>
                <a:cs typeface="Times New Roman" panose="02020603050405020304" pitchFamily="18" charset="0"/>
              </a:rPr>
            </a:br>
            <a:r>
              <a:rPr lang="en-US" sz="2400" i="1" dirty="0">
                <a:latin typeface="Times New Roman" panose="02020603050405020304" pitchFamily="18" charset="0"/>
                <a:cs typeface="Times New Roman" panose="02020603050405020304" pitchFamily="18" charset="0"/>
              </a:rPr>
              <a:t>CSE – (IoT &amp; CSBT)</a:t>
            </a:r>
            <a:endParaRPr lang="en-IN" sz="2400" i="1" dirty="0">
              <a:latin typeface="Times New Roman" panose="02020603050405020304" pitchFamily="18" charset="0"/>
              <a:cs typeface="Times New Roman" panose="02020603050405020304" pitchFamily="18" charset="0"/>
            </a:endParaRPr>
          </a:p>
        </p:txBody>
      </p:sp>
      <p:sp>
        <p:nvSpPr>
          <p:cNvPr id="12" name="Rectangle 11"/>
          <p:cNvSpPr/>
          <p:nvPr/>
        </p:nvSpPr>
        <p:spPr>
          <a:xfrm>
            <a:off x="476089" y="5646775"/>
            <a:ext cx="901817" cy="63500"/>
          </a:xfrm>
          <a:prstGeom prst="rect">
            <a:avLst/>
          </a:prstGeom>
          <a:solidFill>
            <a:srgbClr val="00A1D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dirty="0">
              <a:latin typeface="Times New Roman" panose="02020603050405020304" pitchFamily="18" charset="0"/>
              <a:cs typeface="Times New Roman" panose="02020603050405020304" pitchFamily="18" charset="0"/>
            </a:endParaRPr>
          </a:p>
        </p:txBody>
      </p:sp>
      <p:sp>
        <p:nvSpPr>
          <p:cNvPr id="14" name="Title 8"/>
          <p:cNvSpPr txBox="1">
            <a:spLocks/>
          </p:cNvSpPr>
          <p:nvPr/>
        </p:nvSpPr>
        <p:spPr>
          <a:xfrm>
            <a:off x="35845" y="2216944"/>
            <a:ext cx="6405147" cy="2850358"/>
          </a:xfrm>
          <a:prstGeom prst="rect">
            <a:avLst/>
          </a:prstGeom>
        </p:spPr>
        <p:txBody>
          <a:bodyPr anchor="b"/>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defRPr/>
            </a:pPr>
            <a:endParaRPr lang="en-US" sz="2000" b="1" dirty="0">
              <a:solidFill>
                <a:schemeClr val="accent2">
                  <a:lumMod val="75000"/>
                </a:schemeClr>
              </a:solidFill>
              <a:latin typeface="Times New Roman" panose="02020603050405020304" pitchFamily="18" charset="0"/>
              <a:cs typeface="Times New Roman" panose="02020603050405020304" pitchFamily="18" charset="0"/>
            </a:endParaRPr>
          </a:p>
          <a:p>
            <a:pPr>
              <a:defRPr/>
            </a:pPr>
            <a:r>
              <a:rPr lang="en-US" sz="2000" b="1" dirty="0">
                <a:solidFill>
                  <a:schemeClr val="accent2">
                    <a:lumMod val="75000"/>
                  </a:schemeClr>
                </a:solidFill>
                <a:latin typeface="Times New Roman" panose="02020603050405020304" pitchFamily="18" charset="0"/>
                <a:cs typeface="Times New Roman" panose="02020603050405020304" pitchFamily="18" charset="0"/>
              </a:rPr>
              <a:t>Project Presentation</a:t>
            </a:r>
          </a:p>
          <a:p>
            <a:pPr>
              <a:defRPr/>
            </a:pPr>
            <a:r>
              <a:rPr lang="en-US" sz="1800" b="1" dirty="0">
                <a:solidFill>
                  <a:schemeClr val="accent2">
                    <a:lumMod val="75000"/>
                  </a:schemeClr>
                </a:solidFill>
                <a:latin typeface="Times New Roman" panose="02020603050405020304" pitchFamily="18" charset="0"/>
                <a:cs typeface="Times New Roman" panose="02020603050405020304" pitchFamily="18" charset="0"/>
              </a:rPr>
              <a:t>On</a:t>
            </a:r>
          </a:p>
          <a:p>
            <a:pPr>
              <a:defRPr/>
            </a:pPr>
            <a:r>
              <a:rPr lang="en-US" sz="2400" b="1" dirty="0">
                <a:solidFill>
                  <a:srgbClr val="00A1DA"/>
                </a:solidFill>
                <a:latin typeface="Times New Roman" panose="02020603050405020304" pitchFamily="18" charset="0"/>
                <a:cs typeface="Times New Roman" panose="02020603050405020304" pitchFamily="18" charset="0"/>
              </a:rPr>
              <a:t>“Empowering visually impaired with Safe , Smart Navigation”</a:t>
            </a:r>
          </a:p>
          <a:p>
            <a:pPr>
              <a:defRPr/>
            </a:pPr>
            <a:endParaRPr lang="en-US" sz="2400" b="1" dirty="0">
              <a:solidFill>
                <a:srgbClr val="00A1DA"/>
              </a:solidFill>
              <a:latin typeface="Times New Roman" panose="02020603050405020304" pitchFamily="18" charset="0"/>
              <a:cs typeface="Times New Roman" panose="02020603050405020304" pitchFamily="18" charset="0"/>
            </a:endParaRPr>
          </a:p>
          <a:p>
            <a:pPr>
              <a:defRPr/>
            </a:pPr>
            <a:r>
              <a:rPr lang="en-US" sz="1800" b="1" dirty="0">
                <a:solidFill>
                  <a:schemeClr val="accent2">
                    <a:lumMod val="75000"/>
                  </a:schemeClr>
                </a:solidFill>
                <a:latin typeface="Times New Roman" panose="02020603050405020304" pitchFamily="18" charset="0"/>
                <a:cs typeface="Times New Roman" panose="02020603050405020304" pitchFamily="18" charset="0"/>
              </a:rPr>
              <a:t>By</a:t>
            </a:r>
          </a:p>
          <a:p>
            <a:pPr>
              <a:lnSpc>
                <a:spcPct val="100000"/>
              </a:lnSpc>
              <a:defRPr/>
            </a:pPr>
            <a:r>
              <a:rPr lang="en-US" sz="1600" b="1" dirty="0">
                <a:solidFill>
                  <a:srgbClr val="002060"/>
                </a:solidFill>
                <a:latin typeface="Times New Roman" panose="02020603050405020304" pitchFamily="18" charset="0"/>
                <a:cs typeface="Times New Roman" panose="02020603050405020304" pitchFamily="18" charset="0"/>
              </a:rPr>
              <a:t>Kushitha V (1EP22IC028)</a:t>
            </a:r>
          </a:p>
          <a:p>
            <a:pPr>
              <a:lnSpc>
                <a:spcPct val="100000"/>
              </a:lnSpc>
              <a:defRPr/>
            </a:pPr>
            <a:r>
              <a:rPr lang="en-US" sz="1600" b="1" dirty="0">
                <a:solidFill>
                  <a:srgbClr val="002060"/>
                </a:solidFill>
                <a:latin typeface="Times New Roman" panose="02020603050405020304" pitchFamily="18" charset="0"/>
                <a:cs typeface="Times New Roman" panose="02020603050405020304" pitchFamily="18" charset="0"/>
              </a:rPr>
              <a:t>Nandini V (1EP22IC031) </a:t>
            </a:r>
          </a:p>
          <a:p>
            <a:pPr>
              <a:lnSpc>
                <a:spcPct val="100000"/>
              </a:lnSpc>
              <a:defRPr/>
            </a:pPr>
            <a:r>
              <a:rPr lang="en-US" sz="1600" b="1" dirty="0">
                <a:solidFill>
                  <a:srgbClr val="002060"/>
                </a:solidFill>
                <a:latin typeface="Times New Roman" panose="02020603050405020304" pitchFamily="18" charset="0"/>
                <a:cs typeface="Times New Roman" panose="02020603050405020304" pitchFamily="18" charset="0"/>
              </a:rPr>
              <a:t>Punith Kumar NA(1EP22IC041) </a:t>
            </a:r>
          </a:p>
          <a:p>
            <a:pPr>
              <a:lnSpc>
                <a:spcPct val="100000"/>
              </a:lnSpc>
              <a:defRPr/>
            </a:pPr>
            <a:r>
              <a:rPr lang="en-US" sz="1600" b="1" dirty="0">
                <a:solidFill>
                  <a:srgbClr val="002060"/>
                </a:solidFill>
                <a:latin typeface="Times New Roman" panose="02020603050405020304" pitchFamily="18" charset="0"/>
                <a:cs typeface="Times New Roman" panose="02020603050405020304" pitchFamily="18" charset="0"/>
              </a:rPr>
              <a:t>Shreyas S </a:t>
            </a:r>
            <a:r>
              <a:rPr lang="en-US" sz="1600" b="1" dirty="0" err="1">
                <a:solidFill>
                  <a:srgbClr val="002060"/>
                </a:solidFill>
                <a:latin typeface="Times New Roman" panose="02020603050405020304" pitchFamily="18" charset="0"/>
                <a:cs typeface="Times New Roman" panose="02020603050405020304" pitchFamily="18" charset="0"/>
              </a:rPr>
              <a:t>S</a:t>
            </a:r>
            <a:r>
              <a:rPr lang="en-US" sz="1600" b="1" dirty="0">
                <a:solidFill>
                  <a:srgbClr val="002060"/>
                </a:solidFill>
                <a:latin typeface="Times New Roman" panose="02020603050405020304" pitchFamily="18" charset="0"/>
                <a:cs typeface="Times New Roman" panose="02020603050405020304" pitchFamily="18" charset="0"/>
              </a:rPr>
              <a:t> (1EP22IC050)</a:t>
            </a:r>
          </a:p>
          <a:p>
            <a:pPr>
              <a:buNone/>
            </a:pPr>
            <a:r>
              <a:rPr lang="en-US" sz="2000" b="1" dirty="0">
                <a:solidFill>
                  <a:schemeClr val="accent2">
                    <a:lumMod val="75000"/>
                  </a:schemeClr>
                </a:solidFill>
                <a:latin typeface="Times New Roman" panose="02020603050405020304" pitchFamily="18" charset="0"/>
                <a:cs typeface="Times New Roman" panose="02020603050405020304" pitchFamily="18" charset="0"/>
              </a:rPr>
              <a:t>Under the Guidance of </a:t>
            </a:r>
          </a:p>
          <a:p>
            <a:pPr>
              <a:buNone/>
            </a:pPr>
            <a:r>
              <a:rPr lang="en-IN" sz="1600" b="1" dirty="0">
                <a:solidFill>
                  <a:srgbClr val="9E7500"/>
                </a:solidFill>
                <a:effectLst/>
                <a:latin typeface="TimesNewRomanPS-BoldMT"/>
              </a:rPr>
              <a:t>Dr. Komala C R </a:t>
            </a:r>
            <a:endParaRPr lang="en-IN" sz="700" dirty="0"/>
          </a:p>
          <a:p>
            <a:pPr>
              <a:buNone/>
            </a:pPr>
            <a:r>
              <a:rPr lang="en-IN" sz="1600" b="1" dirty="0">
                <a:solidFill>
                  <a:srgbClr val="9E7500"/>
                </a:solidFill>
                <a:effectLst/>
                <a:latin typeface="TimesNewRomanPS-BoldMT"/>
              </a:rPr>
              <a:t>Professor </a:t>
            </a:r>
            <a:endParaRPr lang="en-IN" sz="700" dirty="0"/>
          </a:p>
          <a:p>
            <a:pPr>
              <a:buNone/>
            </a:pPr>
            <a:r>
              <a:rPr lang="en-IN" sz="1600" b="1" dirty="0">
                <a:solidFill>
                  <a:srgbClr val="9E7500"/>
                </a:solidFill>
                <a:effectLst/>
                <a:latin typeface="TimesNewRomanPS-BoldMT"/>
              </a:rPr>
              <a:t>Dept. of CSE- (IoT&amp; CSBT) </a:t>
            </a:r>
            <a:endParaRPr lang="en-IN" sz="700" dirty="0"/>
          </a:p>
          <a:p>
            <a:pPr>
              <a:buNone/>
            </a:pPr>
            <a:r>
              <a:rPr lang="en-IN" sz="1600" b="1" dirty="0">
                <a:solidFill>
                  <a:srgbClr val="996600"/>
                </a:solidFill>
                <a:effectLst/>
                <a:latin typeface="TimesNewRomanPS-BoldMT"/>
              </a:rPr>
              <a:t>EPCET, Bengaluru</a:t>
            </a:r>
            <a:endParaRPr lang="en-US" sz="1600" b="1" dirty="0">
              <a:solidFill>
                <a:srgbClr val="99660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3DBBA3E-E6DC-E278-0161-1843A1219AAE}"/>
              </a:ext>
            </a:extLst>
          </p:cNvPr>
          <p:cNvSpPr txBox="1"/>
          <p:nvPr/>
        </p:nvSpPr>
        <p:spPr>
          <a:xfrm>
            <a:off x="130432" y="758031"/>
            <a:ext cx="8270761" cy="461665"/>
          </a:xfrm>
          <a:prstGeom prst="rect">
            <a:avLst/>
          </a:prstGeom>
          <a:noFill/>
        </p:spPr>
        <p:txBody>
          <a:bodyPr wrap="square">
            <a:spAutoFit/>
          </a:bodyPr>
          <a:lstStyle/>
          <a:p>
            <a:pPr algn="ctr">
              <a:spcAft>
                <a:spcPts val="1000"/>
              </a:spcAft>
              <a:buNone/>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(An Autonomous Institute, Affiliated to VTU, Belagavi)</a:t>
            </a:r>
            <a:r>
              <a:rPr lang="en-IN" sz="1200" dirty="0">
                <a:latin typeface="Times New Roman" panose="02020603050405020304" pitchFamily="18" charset="0"/>
                <a:ea typeface="Calibri" panose="020F0502020204030204" pitchFamily="34" charset="0"/>
                <a:cs typeface="Times New Roman" panose="02020603050405020304" pitchFamily="18" charset="0"/>
              </a:rPr>
              <a:t> </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Jnana Prabha, Bidarahalli, Bengaluru-49</a:t>
            </a:r>
            <a:r>
              <a:rPr lang="en-IN" sz="1200" dirty="0">
                <a:latin typeface="Times New Roman" panose="02020603050405020304" pitchFamily="18" charset="0"/>
                <a:ea typeface="Calibri" panose="020F0502020204030204" pitchFamily="34" charset="0"/>
                <a:cs typeface="Times New Roman" panose="02020603050405020304" pitchFamily="18" charset="0"/>
              </a:rPr>
              <a:t>                                              </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Approved by AICTE, New Delhi &amp; Government of Karnataka</a:t>
            </a:r>
            <a:r>
              <a:rPr lang="en-IN" sz="1200" dirty="0">
                <a:latin typeface="Times New Roman" panose="02020603050405020304" pitchFamily="18" charset="0"/>
                <a:ea typeface="Calibri" panose="020F0502020204030204" pitchFamily="34" charset="0"/>
                <a:cs typeface="Times New Roman" panose="02020603050405020304" pitchFamily="18" charset="0"/>
              </a:rPr>
              <a:t> </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Accredited by NBA (CSE, ECE &amp; ISE) and NAAC with </a:t>
            </a:r>
            <a:r>
              <a:rPr lang="en-US" sz="1200" b="1" dirty="0">
                <a:effectLst/>
                <a:latin typeface="Times New Roman" panose="02020603050405020304" pitchFamily="18" charset="0"/>
                <a:ea typeface="Calibri" panose="020F0502020204030204" pitchFamily="34" charset="0"/>
                <a:cs typeface="Times New Roman" panose="02020603050405020304" pitchFamily="18" charset="0"/>
              </a:rPr>
              <a:t>A </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Grade</a:t>
            </a: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98E71D1F-3B91-A983-A6B3-C0507BE17262}"/>
              </a:ext>
            </a:extLst>
          </p:cNvPr>
          <p:cNvPicPr>
            <a:picLocks noChangeAspect="1"/>
          </p:cNvPicPr>
          <p:nvPr/>
        </p:nvPicPr>
        <p:blipFill>
          <a:blip r:embed="rId3"/>
          <a:srcRect/>
          <a:stretch>
            <a:fillRect/>
          </a:stretch>
        </p:blipFill>
        <p:spPr bwMode="auto">
          <a:xfrm>
            <a:off x="111124" y="119906"/>
            <a:ext cx="7441644" cy="641202"/>
          </a:xfrm>
          <a:prstGeom prst="rect">
            <a:avLst/>
          </a:prstGeom>
          <a:noFill/>
          <a:ln w="9525">
            <a:noFill/>
            <a:miter lim="800000"/>
            <a:headEnd/>
            <a:tailEnd/>
          </a:ln>
        </p:spPr>
      </p:pic>
    </p:spTree>
    <p:extLst>
      <p:ext uri="{BB962C8B-B14F-4D97-AF65-F5344CB8AC3E}">
        <p14:creationId xmlns:p14="http://schemas.microsoft.com/office/powerpoint/2010/main" val="3888714501"/>
      </p:ext>
    </p:extLst>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9A263B-8A7B-0042-97C3-710B08B5189E}"/>
              </a:ext>
            </a:extLst>
          </p:cNvPr>
          <p:cNvSpPr>
            <a:spLocks noGrp="1"/>
          </p:cNvSpPr>
          <p:nvPr>
            <p:ph type="title"/>
          </p:nvPr>
        </p:nvSpPr>
        <p:spPr>
          <a:xfrm>
            <a:off x="3093455" y="740427"/>
            <a:ext cx="2189746" cy="1044524"/>
          </a:xfrm>
        </p:spPr>
        <p:txBody>
          <a:bodyPr>
            <a:normAutofit/>
          </a:bodyPr>
          <a:lstStyle/>
          <a:p>
            <a:pPr algn="ctr"/>
            <a:r>
              <a:rPr lang="en-US" sz="4000" b="1" dirty="0">
                <a:latin typeface="Times New Roman" pitchFamily="18" charset="0"/>
                <a:cs typeface="Times New Roman" pitchFamily="18" charset="0"/>
              </a:rPr>
              <a:t>Contents</a:t>
            </a:r>
          </a:p>
        </p:txBody>
      </p:sp>
      <p:sp>
        <p:nvSpPr>
          <p:cNvPr id="5" name="Content Placeholder 4">
            <a:extLst>
              <a:ext uri="{FF2B5EF4-FFF2-40B4-BE49-F238E27FC236}">
                <a16:creationId xmlns:a16="http://schemas.microsoft.com/office/drawing/2014/main" id="{78C41660-C051-A748-95D5-B5D26201F9D6}"/>
              </a:ext>
            </a:extLst>
          </p:cNvPr>
          <p:cNvSpPr>
            <a:spLocks noGrp="1"/>
          </p:cNvSpPr>
          <p:nvPr>
            <p:ph sz="half" idx="1"/>
          </p:nvPr>
        </p:nvSpPr>
        <p:spPr>
          <a:xfrm>
            <a:off x="537209" y="1837698"/>
            <a:ext cx="11130915" cy="4237982"/>
          </a:xfrm>
        </p:spPr>
        <p:txBody>
          <a:bodyPr numCol="2">
            <a:normAutofit/>
          </a:bodyPr>
          <a:lstStyle/>
          <a:p>
            <a:r>
              <a:rPr lang="en-US" sz="2400" dirty="0">
                <a:latin typeface="Times New Roman" pitchFamily="18" charset="0"/>
                <a:cs typeface="Times New Roman" pitchFamily="18" charset="0"/>
              </a:rPr>
              <a:t>Introduction</a:t>
            </a:r>
          </a:p>
          <a:p>
            <a:r>
              <a:rPr lang="en-US" sz="2400" dirty="0">
                <a:latin typeface="Times New Roman" pitchFamily="18" charset="0"/>
                <a:cs typeface="Times New Roman" pitchFamily="18" charset="0"/>
              </a:rPr>
              <a:t>Literature Survey</a:t>
            </a:r>
          </a:p>
          <a:p>
            <a:r>
              <a:rPr lang="en-US" sz="2400" dirty="0">
                <a:latin typeface="Times New Roman" pitchFamily="18" charset="0"/>
                <a:cs typeface="Times New Roman" pitchFamily="18" charset="0"/>
              </a:rPr>
              <a:t>Proposed Method</a:t>
            </a:r>
          </a:p>
          <a:p>
            <a:r>
              <a:rPr lang="en-US" sz="2400" dirty="0">
                <a:latin typeface="Times New Roman" pitchFamily="18" charset="0"/>
                <a:cs typeface="Times New Roman" pitchFamily="18" charset="0"/>
              </a:rPr>
              <a:t>Objectives</a:t>
            </a:r>
          </a:p>
          <a:p>
            <a:r>
              <a:rPr lang="en-US" sz="2400" dirty="0">
                <a:latin typeface="Times New Roman" pitchFamily="18" charset="0"/>
                <a:cs typeface="Times New Roman" pitchFamily="18" charset="0"/>
              </a:rPr>
              <a:t>Motivation</a:t>
            </a:r>
          </a:p>
          <a:p>
            <a:r>
              <a:rPr lang="en-US" sz="2400" dirty="0">
                <a:latin typeface="Times New Roman" pitchFamily="18" charset="0"/>
                <a:cs typeface="Times New Roman" pitchFamily="18" charset="0"/>
              </a:rPr>
              <a:t>Challenges</a:t>
            </a:r>
          </a:p>
          <a:p>
            <a:r>
              <a:rPr lang="en-US" sz="2400" dirty="0">
                <a:latin typeface="Times New Roman" pitchFamily="18" charset="0"/>
                <a:cs typeface="Times New Roman" pitchFamily="18" charset="0"/>
              </a:rPr>
              <a:t>Applications</a:t>
            </a:r>
          </a:p>
          <a:p>
            <a:r>
              <a:rPr lang="en-US" sz="2400" dirty="0">
                <a:latin typeface="Times New Roman" pitchFamily="18" charset="0"/>
                <a:cs typeface="Times New Roman" pitchFamily="18" charset="0"/>
              </a:rPr>
              <a:t>Hardware and Software Requirements</a:t>
            </a:r>
          </a:p>
          <a:p>
            <a:r>
              <a:rPr lang="en-US" sz="2400" dirty="0">
                <a:latin typeface="Times New Roman" pitchFamily="18" charset="0"/>
                <a:cs typeface="Times New Roman" pitchFamily="18" charset="0"/>
              </a:rPr>
              <a:t>Architecture</a:t>
            </a:r>
          </a:p>
          <a:p>
            <a:r>
              <a:rPr lang="en-US" sz="2400" dirty="0">
                <a:latin typeface="Times New Roman" pitchFamily="18" charset="0"/>
                <a:cs typeface="Times New Roman" pitchFamily="18" charset="0"/>
              </a:rPr>
              <a:t>Algorithm Used </a:t>
            </a:r>
          </a:p>
          <a:p>
            <a:r>
              <a:rPr lang="en-US" sz="2400" dirty="0">
                <a:latin typeface="Times New Roman" pitchFamily="18" charset="0"/>
                <a:cs typeface="Times New Roman" pitchFamily="18" charset="0"/>
              </a:rPr>
              <a:t>Use case diagram</a:t>
            </a:r>
          </a:p>
          <a:p>
            <a:r>
              <a:rPr lang="en-US" sz="2400" dirty="0">
                <a:latin typeface="Times New Roman" pitchFamily="18" charset="0"/>
                <a:cs typeface="Times New Roman" pitchFamily="18" charset="0"/>
              </a:rPr>
              <a:t>Sequence diagram</a:t>
            </a:r>
          </a:p>
          <a:p>
            <a:r>
              <a:rPr lang="en-US" sz="2400" dirty="0">
                <a:latin typeface="Times New Roman" pitchFamily="18" charset="0"/>
                <a:cs typeface="Times New Roman" pitchFamily="18" charset="0"/>
              </a:rPr>
              <a:t>Implementation</a:t>
            </a:r>
          </a:p>
          <a:p>
            <a:r>
              <a:rPr lang="en-US" sz="2400" dirty="0">
                <a:latin typeface="Times New Roman" pitchFamily="18" charset="0"/>
                <a:cs typeface="Times New Roman" pitchFamily="18" charset="0"/>
              </a:rPr>
              <a:t>Results</a:t>
            </a:r>
          </a:p>
          <a:p>
            <a:r>
              <a:rPr lang="en-US" sz="2400" dirty="0">
                <a:latin typeface="Times New Roman" pitchFamily="18" charset="0"/>
                <a:cs typeface="Times New Roman" pitchFamily="18" charset="0"/>
              </a:rPr>
              <a:t>Result Analysis</a:t>
            </a:r>
          </a:p>
          <a:p>
            <a:r>
              <a:rPr lang="en-US" sz="2400" dirty="0">
                <a:latin typeface="Times New Roman" pitchFamily="18" charset="0"/>
                <a:cs typeface="Times New Roman" pitchFamily="18" charset="0"/>
              </a:rPr>
              <a:t>Conclusion</a:t>
            </a:r>
          </a:p>
          <a:p>
            <a:r>
              <a:rPr lang="en-US" sz="2400" dirty="0">
                <a:latin typeface="Times New Roman" pitchFamily="18" charset="0"/>
                <a:cs typeface="Times New Roman" pitchFamily="18" charset="0"/>
              </a:rPr>
              <a:t>References</a:t>
            </a:r>
          </a:p>
        </p:txBody>
      </p:sp>
      <p:pic>
        <p:nvPicPr>
          <p:cNvPr id="3" name="Picture 2">
            <a:extLst>
              <a:ext uri="{FF2B5EF4-FFF2-40B4-BE49-F238E27FC236}">
                <a16:creationId xmlns:a16="http://schemas.microsoft.com/office/drawing/2014/main" id="{42B48CD6-5AA2-0DA5-37E3-466FAB3642BE}"/>
              </a:ext>
            </a:extLst>
          </p:cNvPr>
          <p:cNvPicPr>
            <a:picLocks noChangeAspect="1"/>
          </p:cNvPicPr>
          <p:nvPr/>
        </p:nvPicPr>
        <p:blipFill>
          <a:blip r:embed="rId3"/>
          <a:srcRect/>
          <a:stretch>
            <a:fillRect/>
          </a:stretch>
        </p:blipFill>
        <p:spPr bwMode="auto">
          <a:xfrm>
            <a:off x="111124" y="119906"/>
            <a:ext cx="6589454" cy="567774"/>
          </a:xfrm>
          <a:prstGeom prst="rect">
            <a:avLst/>
          </a:prstGeom>
          <a:noFill/>
          <a:ln w="9525">
            <a:noFill/>
            <a:miter lim="800000"/>
            <a:headEnd/>
            <a:tailEnd/>
          </a:ln>
        </p:spPr>
      </p:pic>
      <p:sp>
        <p:nvSpPr>
          <p:cNvPr id="6" name="Rectangle 5">
            <a:extLst>
              <a:ext uri="{FF2B5EF4-FFF2-40B4-BE49-F238E27FC236}">
                <a16:creationId xmlns:a16="http://schemas.microsoft.com/office/drawing/2014/main" id="{51E32F90-1B8F-1D99-FF50-1646D2F2FF84}"/>
              </a:ext>
            </a:extLst>
          </p:cNvPr>
          <p:cNvSpPr/>
          <p:nvPr/>
        </p:nvSpPr>
        <p:spPr>
          <a:xfrm>
            <a:off x="-10160" y="6431280"/>
            <a:ext cx="12192000" cy="4267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i="1" dirty="0">
                <a:latin typeface="Times New Roman" panose="02020603050405020304" pitchFamily="18" charset="0"/>
                <a:cs typeface="Times New Roman" panose="02020603050405020304" pitchFamily="18" charset="0"/>
              </a:rPr>
              <a:t>Department of CSE – (IoT &amp; CSBT)                                                                                                                                       2025-26</a:t>
            </a:r>
            <a:endParaRPr lang="en-IN" dirty="0"/>
          </a:p>
        </p:txBody>
      </p:sp>
    </p:spTree>
    <p:extLst>
      <p:ext uri="{BB962C8B-B14F-4D97-AF65-F5344CB8AC3E}">
        <p14:creationId xmlns:p14="http://schemas.microsoft.com/office/powerpoint/2010/main" val="563490772"/>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9A263B-8A7B-0042-97C3-710B08B5189E}"/>
              </a:ext>
            </a:extLst>
          </p:cNvPr>
          <p:cNvSpPr>
            <a:spLocks noGrp="1"/>
          </p:cNvSpPr>
          <p:nvPr>
            <p:ph type="title"/>
          </p:nvPr>
        </p:nvSpPr>
        <p:spPr>
          <a:xfrm>
            <a:off x="3964935" y="899439"/>
            <a:ext cx="4411420" cy="997526"/>
          </a:xfrm>
        </p:spPr>
        <p:txBody>
          <a:bodyPr>
            <a:noAutofit/>
          </a:bodyPr>
          <a:lstStyle/>
          <a:p>
            <a:pPr algn="ctr"/>
            <a:r>
              <a:rPr lang="en-US" sz="4000" b="1" dirty="0">
                <a:solidFill>
                  <a:srgbClr val="000000"/>
                </a:solidFill>
                <a:latin typeface="TimesNewRomanPS-BoldMT"/>
              </a:rPr>
              <a:t>Introduction</a:t>
            </a:r>
            <a:endParaRPr lang="en-US" sz="4000" b="1" dirty="0">
              <a:latin typeface="Times New Roman" pitchFamily="18" charset="0"/>
              <a:cs typeface="Times New Roman" pitchFamily="18" charset="0"/>
            </a:endParaRPr>
          </a:p>
        </p:txBody>
      </p:sp>
      <p:pic>
        <p:nvPicPr>
          <p:cNvPr id="2" name="Picture 1">
            <a:extLst>
              <a:ext uri="{FF2B5EF4-FFF2-40B4-BE49-F238E27FC236}">
                <a16:creationId xmlns:a16="http://schemas.microsoft.com/office/drawing/2014/main" id="{111ED5DE-D130-398D-41D9-E8D5E10FDD1E}"/>
              </a:ext>
            </a:extLst>
          </p:cNvPr>
          <p:cNvPicPr>
            <a:picLocks noChangeAspect="1"/>
          </p:cNvPicPr>
          <p:nvPr/>
        </p:nvPicPr>
        <p:blipFill>
          <a:blip r:embed="rId2"/>
          <a:srcRect/>
          <a:stretch>
            <a:fillRect/>
          </a:stretch>
        </p:blipFill>
        <p:spPr bwMode="auto">
          <a:xfrm>
            <a:off x="111124" y="119906"/>
            <a:ext cx="6589454" cy="567774"/>
          </a:xfrm>
          <a:prstGeom prst="rect">
            <a:avLst/>
          </a:prstGeom>
          <a:noFill/>
          <a:ln w="9525">
            <a:noFill/>
            <a:miter lim="800000"/>
            <a:headEnd/>
            <a:tailEnd/>
          </a:ln>
        </p:spPr>
      </p:pic>
      <p:sp>
        <p:nvSpPr>
          <p:cNvPr id="3" name="Rectangle 2">
            <a:extLst>
              <a:ext uri="{FF2B5EF4-FFF2-40B4-BE49-F238E27FC236}">
                <a16:creationId xmlns:a16="http://schemas.microsoft.com/office/drawing/2014/main" id="{E4D59332-4DC5-AF46-DB8D-0910FDB1F15B}"/>
              </a:ext>
            </a:extLst>
          </p:cNvPr>
          <p:cNvSpPr/>
          <p:nvPr/>
        </p:nvSpPr>
        <p:spPr>
          <a:xfrm>
            <a:off x="-829" y="6440611"/>
            <a:ext cx="12192000" cy="4267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i="1" dirty="0">
                <a:latin typeface="Times New Roman" panose="02020603050405020304" pitchFamily="18" charset="0"/>
                <a:cs typeface="Times New Roman" panose="02020603050405020304" pitchFamily="18" charset="0"/>
              </a:rPr>
              <a:t>Department of CSE – (IoT &amp; CSBT)                                                                                                                                       2025-26</a:t>
            </a:r>
            <a:endParaRPr lang="en-IN" dirty="0"/>
          </a:p>
        </p:txBody>
      </p:sp>
      <p:sp>
        <p:nvSpPr>
          <p:cNvPr id="6" name="TextBox 5">
            <a:extLst>
              <a:ext uri="{FF2B5EF4-FFF2-40B4-BE49-F238E27FC236}">
                <a16:creationId xmlns:a16="http://schemas.microsoft.com/office/drawing/2014/main" id="{D94614F0-3542-6482-AB66-37E9E15C3452}"/>
              </a:ext>
            </a:extLst>
          </p:cNvPr>
          <p:cNvSpPr txBox="1"/>
          <p:nvPr/>
        </p:nvSpPr>
        <p:spPr>
          <a:xfrm>
            <a:off x="1707503" y="1896965"/>
            <a:ext cx="9498562" cy="2677656"/>
          </a:xfrm>
          <a:prstGeom prst="rect">
            <a:avLst/>
          </a:prstGeom>
          <a:noFill/>
        </p:spPr>
        <p:txBody>
          <a:bodyPr wrap="square">
            <a:spAutoFit/>
          </a:bodyPr>
          <a:lstStyle/>
          <a:p>
            <a:pPr algn="just">
              <a:buNone/>
            </a:pPr>
            <a:r>
              <a:rPr lang="en-US" sz="2400" b="1" dirty="0">
                <a:solidFill>
                  <a:srgbClr val="000000"/>
                </a:solidFill>
                <a:effectLst/>
                <a:latin typeface="TimesNewRomanPS-BoldMT"/>
              </a:rPr>
              <a:t> </a:t>
            </a:r>
            <a:endParaRPr lang="en-US" dirty="0"/>
          </a:p>
          <a:p>
            <a:pPr algn="just">
              <a:buNone/>
            </a:pPr>
            <a:r>
              <a:rPr lang="en-US" sz="1800" dirty="0">
                <a:solidFill>
                  <a:srgbClr val="000000"/>
                </a:solidFill>
                <a:effectLst/>
                <a:latin typeface="Times New Roman" panose="02020603050405020304" pitchFamily="18" charset="0"/>
              </a:rPr>
              <a:t>Obstacle-avoiding robots are a fundamental application of autonomous robotics, designed to </a:t>
            </a:r>
            <a:endParaRPr lang="en-US" dirty="0"/>
          </a:p>
          <a:p>
            <a:pPr algn="just">
              <a:buNone/>
            </a:pPr>
            <a:r>
              <a:rPr lang="en-US" sz="1800" dirty="0">
                <a:solidFill>
                  <a:srgbClr val="000000"/>
                </a:solidFill>
                <a:effectLst/>
                <a:latin typeface="Times New Roman" panose="02020603050405020304" pitchFamily="18" charset="0"/>
              </a:rPr>
              <a:t>navigate environments without human intervention. This project utilizes an </a:t>
            </a:r>
            <a:r>
              <a:rPr lang="en-US" sz="1800" b="1" dirty="0">
                <a:solidFill>
                  <a:srgbClr val="000000"/>
                </a:solidFill>
                <a:effectLst/>
                <a:latin typeface="TimesNewRomanPS-BoldMT"/>
              </a:rPr>
              <a:t>Arduino Uno</a:t>
            </a:r>
            <a:r>
              <a:rPr lang="en-US" sz="1800" dirty="0">
                <a:solidFill>
                  <a:srgbClr val="000000"/>
                </a:solidFill>
                <a:effectLst/>
                <a:latin typeface="Times New Roman" panose="02020603050405020304" pitchFamily="18" charset="0"/>
              </a:rPr>
              <a:t>, </a:t>
            </a:r>
            <a:endParaRPr lang="en-US" dirty="0"/>
          </a:p>
          <a:p>
            <a:pPr algn="just">
              <a:buNone/>
            </a:pPr>
            <a:r>
              <a:rPr lang="en-US" sz="1800" b="1" dirty="0">
                <a:solidFill>
                  <a:srgbClr val="000000"/>
                </a:solidFill>
                <a:effectLst/>
                <a:latin typeface="TimesNewRomanPS-BoldMT"/>
              </a:rPr>
              <a:t>ultrasonic sensors (Ping library)</a:t>
            </a:r>
            <a:r>
              <a:rPr lang="en-US" sz="1800" dirty="0">
                <a:solidFill>
                  <a:srgbClr val="000000"/>
                </a:solidFill>
                <a:effectLst/>
                <a:latin typeface="Times New Roman" panose="02020603050405020304" pitchFamily="18" charset="0"/>
              </a:rPr>
              <a:t>, and </a:t>
            </a:r>
            <a:r>
              <a:rPr lang="en-US" sz="1800" b="1" dirty="0">
                <a:solidFill>
                  <a:srgbClr val="000000"/>
                </a:solidFill>
                <a:effectLst/>
                <a:latin typeface="TimesNewRomanPS-BoldMT"/>
              </a:rPr>
              <a:t>servo motors (Servo library) </a:t>
            </a:r>
            <a:r>
              <a:rPr lang="en-US" sz="1800" dirty="0">
                <a:solidFill>
                  <a:srgbClr val="000000"/>
                </a:solidFill>
                <a:effectLst/>
                <a:latin typeface="Times New Roman" panose="02020603050405020304" pitchFamily="18" charset="0"/>
              </a:rPr>
              <a:t>for efficient movement and </a:t>
            </a:r>
            <a:endParaRPr lang="en-US" dirty="0"/>
          </a:p>
          <a:p>
            <a:pPr algn="just">
              <a:buNone/>
            </a:pPr>
            <a:r>
              <a:rPr lang="en-US" sz="1800" dirty="0">
                <a:solidFill>
                  <a:srgbClr val="000000"/>
                </a:solidFill>
                <a:effectLst/>
                <a:latin typeface="Times New Roman" panose="02020603050405020304" pitchFamily="18" charset="0"/>
              </a:rPr>
              <a:t>obstacle detection. The </a:t>
            </a:r>
            <a:r>
              <a:rPr lang="en-US" sz="1800" b="1" dirty="0">
                <a:solidFill>
                  <a:srgbClr val="000000"/>
                </a:solidFill>
                <a:effectLst/>
                <a:latin typeface="TimesNewRomanPS-BoldMT"/>
              </a:rPr>
              <a:t>Motor Drive Shield library </a:t>
            </a:r>
            <a:r>
              <a:rPr lang="en-US" sz="1800" dirty="0">
                <a:solidFill>
                  <a:srgbClr val="000000"/>
                </a:solidFill>
                <a:effectLst/>
                <a:latin typeface="Times New Roman" panose="02020603050405020304" pitchFamily="18" charset="0"/>
              </a:rPr>
              <a:t>enables precise motor control, allowing the </a:t>
            </a:r>
            <a:endParaRPr lang="en-US" dirty="0"/>
          </a:p>
          <a:p>
            <a:pPr algn="just">
              <a:buNone/>
            </a:pPr>
            <a:r>
              <a:rPr lang="en-US" sz="1800" dirty="0">
                <a:solidFill>
                  <a:srgbClr val="000000"/>
                </a:solidFill>
                <a:effectLst/>
                <a:latin typeface="Times New Roman" panose="02020603050405020304" pitchFamily="18" charset="0"/>
              </a:rPr>
              <a:t>robot to adjust its path dynamically. The ultrasonic sensor detects obstacles in real time, while the </a:t>
            </a:r>
            <a:endParaRPr lang="en-US" dirty="0"/>
          </a:p>
          <a:p>
            <a:pPr algn="just">
              <a:buNone/>
            </a:pPr>
            <a:r>
              <a:rPr lang="en-US" sz="1800" dirty="0">
                <a:solidFill>
                  <a:srgbClr val="000000"/>
                </a:solidFill>
                <a:effectLst/>
                <a:latin typeface="Times New Roman" panose="02020603050405020304" pitchFamily="18" charset="0"/>
              </a:rPr>
              <a:t>servo motor adjusts the sensor’s direction for enhanced scanning. By integrating these components, </a:t>
            </a:r>
            <a:endParaRPr lang="en-US" dirty="0"/>
          </a:p>
          <a:p>
            <a:pPr algn="just">
              <a:buNone/>
            </a:pPr>
            <a:r>
              <a:rPr lang="en-US" sz="1800" dirty="0">
                <a:solidFill>
                  <a:srgbClr val="000000"/>
                </a:solidFill>
                <a:effectLst/>
                <a:latin typeface="Times New Roman" panose="02020603050405020304" pitchFamily="18" charset="0"/>
              </a:rPr>
              <a:t>the robot can autonomously explore its surroundings, making it ideal for automation, security, and </a:t>
            </a:r>
            <a:endParaRPr lang="en-US" dirty="0"/>
          </a:p>
          <a:p>
            <a:pPr algn="just">
              <a:buNone/>
            </a:pPr>
            <a:r>
              <a:rPr lang="en-US" sz="1800" dirty="0">
                <a:solidFill>
                  <a:srgbClr val="000000"/>
                </a:solidFill>
                <a:effectLst/>
                <a:latin typeface="Times New Roman" panose="02020603050405020304" pitchFamily="18" charset="0"/>
              </a:rPr>
              <a:t>development.</a:t>
            </a:r>
            <a:endParaRPr lang="en-IN" dirty="0"/>
          </a:p>
        </p:txBody>
      </p:sp>
    </p:spTree>
    <p:extLst>
      <p:ext uri="{BB962C8B-B14F-4D97-AF65-F5344CB8AC3E}">
        <p14:creationId xmlns:p14="http://schemas.microsoft.com/office/powerpoint/2010/main" val="945479988"/>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9A263B-8A7B-0042-97C3-710B08B5189E}"/>
              </a:ext>
            </a:extLst>
          </p:cNvPr>
          <p:cNvSpPr>
            <a:spLocks noGrp="1"/>
          </p:cNvSpPr>
          <p:nvPr>
            <p:ph type="title"/>
          </p:nvPr>
        </p:nvSpPr>
        <p:spPr>
          <a:xfrm>
            <a:off x="3978706" y="1166134"/>
            <a:ext cx="7067271" cy="997526"/>
          </a:xfrm>
        </p:spPr>
        <p:txBody>
          <a:bodyPr>
            <a:noAutofit/>
          </a:bodyPr>
          <a:lstStyle/>
          <a:p>
            <a:r>
              <a:rPr lang="en-IN" sz="4000" b="1" dirty="0">
                <a:solidFill>
                  <a:srgbClr val="000000"/>
                </a:solidFill>
                <a:latin typeface="TimesNewRomanPS-BoldMT"/>
              </a:rPr>
              <a:t>Literature survey </a:t>
            </a:r>
            <a:br>
              <a:rPr lang="en-IN" sz="4000" dirty="0"/>
            </a:br>
            <a:endParaRPr lang="en-US" sz="4000" b="1" dirty="0">
              <a:latin typeface="Times New Roman" pitchFamily="18" charset="0"/>
              <a:cs typeface="Times New Roman" pitchFamily="18" charset="0"/>
            </a:endParaRPr>
          </a:p>
        </p:txBody>
      </p:sp>
      <p:pic>
        <p:nvPicPr>
          <p:cNvPr id="2" name="Picture 1">
            <a:extLst>
              <a:ext uri="{FF2B5EF4-FFF2-40B4-BE49-F238E27FC236}">
                <a16:creationId xmlns:a16="http://schemas.microsoft.com/office/drawing/2014/main" id="{BB919D30-40DC-7C71-7103-30BD60523E91}"/>
              </a:ext>
            </a:extLst>
          </p:cNvPr>
          <p:cNvPicPr>
            <a:picLocks noChangeAspect="1"/>
          </p:cNvPicPr>
          <p:nvPr/>
        </p:nvPicPr>
        <p:blipFill>
          <a:blip r:embed="rId2"/>
          <a:srcRect/>
          <a:stretch>
            <a:fillRect/>
          </a:stretch>
        </p:blipFill>
        <p:spPr bwMode="auto">
          <a:xfrm>
            <a:off x="111124" y="119906"/>
            <a:ext cx="6589454" cy="567774"/>
          </a:xfrm>
          <a:prstGeom prst="rect">
            <a:avLst/>
          </a:prstGeom>
          <a:noFill/>
          <a:ln w="9525">
            <a:noFill/>
            <a:miter lim="800000"/>
            <a:headEnd/>
            <a:tailEnd/>
          </a:ln>
        </p:spPr>
      </p:pic>
      <p:sp>
        <p:nvSpPr>
          <p:cNvPr id="3" name="Rectangle 2">
            <a:extLst>
              <a:ext uri="{FF2B5EF4-FFF2-40B4-BE49-F238E27FC236}">
                <a16:creationId xmlns:a16="http://schemas.microsoft.com/office/drawing/2014/main" id="{EFFEDBB6-5D38-CE1D-EB77-1BA80F3C5D15}"/>
              </a:ext>
            </a:extLst>
          </p:cNvPr>
          <p:cNvSpPr/>
          <p:nvPr/>
        </p:nvSpPr>
        <p:spPr>
          <a:xfrm>
            <a:off x="-10160" y="6431280"/>
            <a:ext cx="12192000" cy="4267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i="1" dirty="0">
                <a:latin typeface="Times New Roman" panose="02020603050405020304" pitchFamily="18" charset="0"/>
                <a:cs typeface="Times New Roman" panose="02020603050405020304" pitchFamily="18" charset="0"/>
              </a:rPr>
              <a:t>Department of CSE – (IoT &amp; CSBT)                                                                                                                                       2025-26</a:t>
            </a:r>
            <a:endParaRPr lang="en-IN" dirty="0"/>
          </a:p>
        </p:txBody>
      </p:sp>
      <p:sp>
        <p:nvSpPr>
          <p:cNvPr id="6" name="TextBox 5">
            <a:extLst>
              <a:ext uri="{FF2B5EF4-FFF2-40B4-BE49-F238E27FC236}">
                <a16:creationId xmlns:a16="http://schemas.microsoft.com/office/drawing/2014/main" id="{9D629426-0FE7-C19D-2637-D51FAE2E5136}"/>
              </a:ext>
            </a:extLst>
          </p:cNvPr>
          <p:cNvSpPr txBox="1"/>
          <p:nvPr/>
        </p:nvSpPr>
        <p:spPr>
          <a:xfrm>
            <a:off x="2562364" y="2314742"/>
            <a:ext cx="7067271" cy="3139321"/>
          </a:xfrm>
          <a:prstGeom prst="rect">
            <a:avLst/>
          </a:prstGeom>
          <a:noFill/>
        </p:spPr>
        <p:txBody>
          <a:bodyPr wrap="square">
            <a:spAutoFit/>
          </a:bodyPr>
          <a:lstStyle/>
          <a:p>
            <a:pPr marL="285750" indent="-285750" algn="just">
              <a:buFont typeface="Arial" panose="020B0604020202020204" pitchFamily="34" charset="0"/>
              <a:buChar char="•"/>
            </a:pPr>
            <a:r>
              <a:rPr lang="en-IN" sz="1800" b="1" dirty="0">
                <a:solidFill>
                  <a:srgbClr val="000000"/>
                </a:solidFill>
                <a:effectLst/>
                <a:latin typeface="TimesNewRomanPS-BoldMT"/>
              </a:rPr>
              <a:t>Autonomous Obstacle Avoidance Using Ultrasonic Sensors </a:t>
            </a:r>
            <a:r>
              <a:rPr lang="en-IN" sz="1800" dirty="0">
                <a:solidFill>
                  <a:srgbClr val="000000"/>
                </a:solidFill>
                <a:effectLst/>
                <a:latin typeface="Times New Roman" panose="02020603050405020304" pitchFamily="18" charset="0"/>
              </a:rPr>
              <a:t>– This research highlights the use of </a:t>
            </a:r>
            <a:r>
              <a:rPr lang="en-IN" sz="1800" b="1" dirty="0">
                <a:solidFill>
                  <a:srgbClr val="000000"/>
                </a:solidFill>
                <a:effectLst/>
                <a:latin typeface="TimesNewRomanPS-BoldMT"/>
              </a:rPr>
              <a:t>Ping ultrasonic sensors </a:t>
            </a:r>
            <a:r>
              <a:rPr lang="en-IN" sz="1800" dirty="0">
                <a:solidFill>
                  <a:srgbClr val="000000"/>
                </a:solidFill>
                <a:effectLst/>
                <a:latin typeface="Times New Roman" panose="02020603050405020304" pitchFamily="18" charset="0"/>
              </a:rPr>
              <a:t>for obstacle detection, ensuring real-time navigation accuracy. </a:t>
            </a:r>
            <a:endParaRPr lang="en-IN" dirty="0"/>
          </a:p>
          <a:p>
            <a:pPr marL="285750" indent="-285750" algn="just">
              <a:buFont typeface="Arial" panose="020B0604020202020204" pitchFamily="34" charset="0"/>
              <a:buChar char="•"/>
            </a:pPr>
            <a:r>
              <a:rPr lang="en-IN" sz="1800" b="1" dirty="0">
                <a:solidFill>
                  <a:srgbClr val="000000"/>
                </a:solidFill>
                <a:effectLst/>
                <a:latin typeface="TimesNewRomanPS-BoldMT"/>
              </a:rPr>
              <a:t>Integration of Servo Motors in Robotics </a:t>
            </a:r>
            <a:r>
              <a:rPr lang="en-IN" sz="1800" dirty="0">
                <a:solidFill>
                  <a:srgbClr val="000000"/>
                </a:solidFill>
                <a:effectLst/>
                <a:latin typeface="Times New Roman" panose="02020603050405020304" pitchFamily="18" charset="0"/>
              </a:rPr>
              <a:t>– Discusses how </a:t>
            </a:r>
            <a:r>
              <a:rPr lang="en-IN" sz="1800" b="1" dirty="0">
                <a:solidFill>
                  <a:srgbClr val="000000"/>
                </a:solidFill>
                <a:effectLst/>
                <a:latin typeface="TimesNewRomanPS-BoldMT"/>
              </a:rPr>
              <a:t>Servo library </a:t>
            </a:r>
            <a:r>
              <a:rPr lang="en-IN" sz="1800" dirty="0">
                <a:solidFill>
                  <a:srgbClr val="000000"/>
                </a:solidFill>
                <a:effectLst/>
                <a:latin typeface="Times New Roman" panose="02020603050405020304" pitchFamily="18" charset="0"/>
              </a:rPr>
              <a:t>enhances precise movement, improving obstacle avoidance strategies. </a:t>
            </a:r>
            <a:endParaRPr lang="en-IN" dirty="0"/>
          </a:p>
          <a:p>
            <a:pPr marL="285750" indent="-285750" algn="just">
              <a:buFont typeface="Arial" panose="020B0604020202020204" pitchFamily="34" charset="0"/>
              <a:buChar char="•"/>
            </a:pPr>
            <a:r>
              <a:rPr lang="en-IN" sz="1800" b="1" dirty="0">
                <a:solidFill>
                  <a:srgbClr val="000000"/>
                </a:solidFill>
                <a:effectLst/>
                <a:latin typeface="TimesNewRomanPS-BoldMT"/>
              </a:rPr>
              <a:t>Motor Drive Shield for Efficient Motion Control </a:t>
            </a:r>
            <a:r>
              <a:rPr lang="en-IN" sz="1800" dirty="0">
                <a:solidFill>
                  <a:srgbClr val="000000"/>
                </a:solidFill>
                <a:effectLst/>
                <a:latin typeface="Times New Roman" panose="02020603050405020304" pitchFamily="18" charset="0"/>
              </a:rPr>
              <a:t>– Examines the role of </a:t>
            </a:r>
            <a:r>
              <a:rPr lang="en-IN" sz="1800" b="1" dirty="0">
                <a:solidFill>
                  <a:srgbClr val="000000"/>
                </a:solidFill>
                <a:effectLst/>
                <a:latin typeface="TimesNewRomanPS-BoldMT"/>
              </a:rPr>
              <a:t>Motor Drive Shield library </a:t>
            </a:r>
            <a:r>
              <a:rPr lang="en-IN" sz="1800" dirty="0">
                <a:solidFill>
                  <a:srgbClr val="000000"/>
                </a:solidFill>
                <a:effectLst/>
                <a:latin typeface="Times New Roman" panose="02020603050405020304" pitchFamily="18" charset="0"/>
              </a:rPr>
              <a:t>in optimizing motor responses for better mobility. </a:t>
            </a:r>
            <a:endParaRPr lang="en-IN" dirty="0"/>
          </a:p>
          <a:p>
            <a:pPr marL="285750" indent="-285750" algn="just">
              <a:buFont typeface="Arial" panose="020B0604020202020204" pitchFamily="34" charset="0"/>
              <a:buChar char="•"/>
            </a:pPr>
            <a:r>
              <a:rPr lang="en-IN" sz="1800" b="1" dirty="0">
                <a:solidFill>
                  <a:srgbClr val="000000"/>
                </a:solidFill>
                <a:effectLst/>
                <a:latin typeface="TimesNewRomanPS-BoldMT"/>
              </a:rPr>
              <a:t>AI-Based Path Planning in Robotics </a:t>
            </a:r>
            <a:r>
              <a:rPr lang="en-IN" sz="1800" dirty="0">
                <a:solidFill>
                  <a:srgbClr val="000000"/>
                </a:solidFill>
                <a:effectLst/>
                <a:latin typeface="Times New Roman" panose="02020603050405020304" pitchFamily="18" charset="0"/>
              </a:rPr>
              <a:t>– Explores how sensor data and algorithms enhance autonomous decision-making.</a:t>
            </a:r>
            <a:endParaRPr lang="en-IN" dirty="0"/>
          </a:p>
        </p:txBody>
      </p:sp>
    </p:spTree>
    <p:extLst>
      <p:ext uri="{BB962C8B-B14F-4D97-AF65-F5344CB8AC3E}">
        <p14:creationId xmlns:p14="http://schemas.microsoft.com/office/powerpoint/2010/main" val="632295161"/>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9A263B-8A7B-0042-97C3-710B08B5189E}"/>
              </a:ext>
            </a:extLst>
          </p:cNvPr>
          <p:cNvSpPr>
            <a:spLocks noGrp="1"/>
          </p:cNvSpPr>
          <p:nvPr>
            <p:ph type="title"/>
          </p:nvPr>
        </p:nvSpPr>
        <p:spPr>
          <a:xfrm>
            <a:off x="3862185" y="1109697"/>
            <a:ext cx="7067271" cy="997526"/>
          </a:xfrm>
        </p:spPr>
        <p:txBody>
          <a:bodyPr>
            <a:noAutofit/>
          </a:bodyPr>
          <a:lstStyle/>
          <a:p>
            <a:r>
              <a:rPr lang="en-US" sz="4000" b="1" dirty="0">
                <a:solidFill>
                  <a:srgbClr val="000000"/>
                </a:solidFill>
                <a:latin typeface="TimesNewRomanPS-BoldMT"/>
              </a:rPr>
              <a:t>Proposed system </a:t>
            </a:r>
            <a:br>
              <a:rPr lang="en-US" sz="4000" dirty="0"/>
            </a:br>
            <a:endParaRPr lang="en-US" sz="4000" b="1" dirty="0">
              <a:latin typeface="Times New Roman" pitchFamily="18" charset="0"/>
              <a:cs typeface="Times New Roman" pitchFamily="18" charset="0"/>
            </a:endParaRPr>
          </a:p>
        </p:txBody>
      </p:sp>
      <p:pic>
        <p:nvPicPr>
          <p:cNvPr id="2" name="Picture 1">
            <a:extLst>
              <a:ext uri="{FF2B5EF4-FFF2-40B4-BE49-F238E27FC236}">
                <a16:creationId xmlns:a16="http://schemas.microsoft.com/office/drawing/2014/main" id="{5ECC7275-7605-8477-DD07-F6BA763D8DA5}"/>
              </a:ext>
            </a:extLst>
          </p:cNvPr>
          <p:cNvPicPr>
            <a:picLocks noChangeAspect="1"/>
          </p:cNvPicPr>
          <p:nvPr/>
        </p:nvPicPr>
        <p:blipFill>
          <a:blip r:embed="rId2"/>
          <a:srcRect/>
          <a:stretch>
            <a:fillRect/>
          </a:stretch>
        </p:blipFill>
        <p:spPr bwMode="auto">
          <a:xfrm>
            <a:off x="111124" y="119906"/>
            <a:ext cx="6589454" cy="567774"/>
          </a:xfrm>
          <a:prstGeom prst="rect">
            <a:avLst/>
          </a:prstGeom>
          <a:noFill/>
          <a:ln w="9525">
            <a:noFill/>
            <a:miter lim="800000"/>
            <a:headEnd/>
            <a:tailEnd/>
          </a:ln>
        </p:spPr>
      </p:pic>
      <p:sp>
        <p:nvSpPr>
          <p:cNvPr id="3" name="Rectangle 2">
            <a:extLst>
              <a:ext uri="{FF2B5EF4-FFF2-40B4-BE49-F238E27FC236}">
                <a16:creationId xmlns:a16="http://schemas.microsoft.com/office/drawing/2014/main" id="{B523A307-3E85-4D92-1BF7-468E9F731FA7}"/>
              </a:ext>
            </a:extLst>
          </p:cNvPr>
          <p:cNvSpPr/>
          <p:nvPr/>
        </p:nvSpPr>
        <p:spPr>
          <a:xfrm>
            <a:off x="-10160" y="6431280"/>
            <a:ext cx="12192000" cy="4267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i="1" dirty="0">
                <a:latin typeface="Times New Roman" panose="02020603050405020304" pitchFamily="18" charset="0"/>
                <a:cs typeface="Times New Roman" panose="02020603050405020304" pitchFamily="18" charset="0"/>
              </a:rPr>
              <a:t>Department of CSE – (IoT &amp; CSBT)                                                                                                                                       2025-26</a:t>
            </a:r>
            <a:endParaRPr lang="en-IN" dirty="0"/>
          </a:p>
        </p:txBody>
      </p:sp>
      <p:sp>
        <p:nvSpPr>
          <p:cNvPr id="6" name="TextBox 5">
            <a:extLst>
              <a:ext uri="{FF2B5EF4-FFF2-40B4-BE49-F238E27FC236}">
                <a16:creationId xmlns:a16="http://schemas.microsoft.com/office/drawing/2014/main" id="{E565F269-9ED7-28FC-AB44-41ED03619C42}"/>
              </a:ext>
            </a:extLst>
          </p:cNvPr>
          <p:cNvSpPr txBox="1"/>
          <p:nvPr/>
        </p:nvSpPr>
        <p:spPr>
          <a:xfrm>
            <a:off x="2603241" y="2201863"/>
            <a:ext cx="6518210" cy="3416320"/>
          </a:xfrm>
          <a:prstGeom prst="rect">
            <a:avLst/>
          </a:prstGeom>
          <a:noFill/>
        </p:spPr>
        <p:txBody>
          <a:bodyPr wrap="square">
            <a:spAutoFit/>
          </a:bodyPr>
          <a:lstStyle/>
          <a:p>
            <a:pPr algn="just">
              <a:buNone/>
            </a:pPr>
            <a:r>
              <a:rPr lang="en-US" sz="1800" dirty="0">
                <a:solidFill>
                  <a:srgbClr val="000000"/>
                </a:solidFill>
                <a:effectLst/>
                <a:latin typeface="Times New Roman" panose="02020603050405020304" pitchFamily="18" charset="0"/>
              </a:rPr>
              <a:t>The proposed system enhances autonomous robotic navigation by integrating </a:t>
            </a:r>
            <a:r>
              <a:rPr lang="en-US" sz="1800" b="1" dirty="0">
                <a:solidFill>
                  <a:srgbClr val="000000"/>
                </a:solidFill>
                <a:effectLst/>
                <a:latin typeface="TimesNewRomanPS-BoldMT"/>
              </a:rPr>
              <a:t>Arduino Uno</a:t>
            </a:r>
            <a:r>
              <a:rPr lang="en-US" sz="1800" dirty="0">
                <a:solidFill>
                  <a:srgbClr val="000000"/>
                </a:solidFill>
                <a:effectLst/>
                <a:latin typeface="Times New Roman" panose="02020603050405020304" pitchFamily="18" charset="0"/>
              </a:rPr>
              <a:t>, </a:t>
            </a:r>
            <a:r>
              <a:rPr lang="en-US" sz="1800" b="1" dirty="0">
                <a:solidFill>
                  <a:srgbClr val="000000"/>
                </a:solidFill>
                <a:effectLst/>
                <a:latin typeface="TimesNewRomanPS-BoldMT"/>
              </a:rPr>
              <a:t>ultrasonic sensors</a:t>
            </a:r>
            <a:r>
              <a:rPr lang="en-US" sz="1800" dirty="0">
                <a:solidFill>
                  <a:srgbClr val="000000"/>
                </a:solidFill>
                <a:effectLst/>
                <a:latin typeface="Times New Roman" panose="02020603050405020304" pitchFamily="18" charset="0"/>
              </a:rPr>
              <a:t>, </a:t>
            </a:r>
            <a:r>
              <a:rPr lang="en-US" sz="1800" b="1" dirty="0">
                <a:solidFill>
                  <a:srgbClr val="000000"/>
                </a:solidFill>
                <a:effectLst/>
                <a:latin typeface="TimesNewRomanPS-BoldMT"/>
              </a:rPr>
              <a:t>servo motors</a:t>
            </a:r>
            <a:r>
              <a:rPr lang="en-US" sz="1800" dirty="0">
                <a:solidFill>
                  <a:srgbClr val="000000"/>
                </a:solidFill>
                <a:effectLst/>
                <a:latin typeface="Times New Roman" panose="02020603050405020304" pitchFamily="18" charset="0"/>
              </a:rPr>
              <a:t>, and a </a:t>
            </a:r>
            <a:r>
              <a:rPr lang="en-US" sz="1800" b="1" dirty="0">
                <a:solidFill>
                  <a:srgbClr val="000000"/>
                </a:solidFill>
                <a:effectLst/>
                <a:latin typeface="TimesNewRomanPS-BoldMT"/>
              </a:rPr>
              <a:t>motor driver shield </a:t>
            </a:r>
            <a:r>
              <a:rPr lang="en-US" sz="1800" dirty="0">
                <a:solidFill>
                  <a:srgbClr val="000000"/>
                </a:solidFill>
                <a:effectLst/>
                <a:latin typeface="Times New Roman" panose="02020603050405020304" pitchFamily="18" charset="0"/>
              </a:rPr>
              <a:t>.The </a:t>
            </a:r>
            <a:r>
              <a:rPr lang="en-US" sz="1800" b="1" dirty="0">
                <a:solidFill>
                  <a:srgbClr val="000000"/>
                </a:solidFill>
                <a:effectLst/>
                <a:latin typeface="TimesNewRomanPS-BoldMT"/>
              </a:rPr>
              <a:t>Ping library </a:t>
            </a:r>
            <a:r>
              <a:rPr lang="en-US" sz="1800" dirty="0">
                <a:solidFill>
                  <a:srgbClr val="000000"/>
                </a:solidFill>
                <a:effectLst/>
                <a:latin typeface="Times New Roman" panose="02020603050405020304" pitchFamily="18" charset="0"/>
              </a:rPr>
              <a:t>enables precise distance measurement, while the </a:t>
            </a:r>
            <a:r>
              <a:rPr lang="en-US" sz="1800" b="1" dirty="0">
                <a:solidFill>
                  <a:srgbClr val="000000"/>
                </a:solidFill>
                <a:effectLst/>
                <a:latin typeface="TimesNewRomanPS-BoldMT"/>
              </a:rPr>
              <a:t>Servo library </a:t>
            </a:r>
            <a:r>
              <a:rPr lang="en-US" sz="1800" dirty="0">
                <a:solidFill>
                  <a:srgbClr val="000000"/>
                </a:solidFill>
                <a:effectLst/>
                <a:latin typeface="Times New Roman" panose="02020603050405020304" pitchFamily="18" charset="0"/>
              </a:rPr>
              <a:t>controls the servo motor to adjust sensor direction for wider obstacle detection. The </a:t>
            </a:r>
            <a:r>
              <a:rPr lang="en-US" sz="1800" b="1" dirty="0">
                <a:solidFill>
                  <a:srgbClr val="000000"/>
                </a:solidFill>
                <a:effectLst/>
                <a:latin typeface="TimesNewRomanPS-BoldMT"/>
              </a:rPr>
              <a:t>Motor Drive Shield library </a:t>
            </a:r>
            <a:r>
              <a:rPr lang="en-US" sz="1800" dirty="0">
                <a:solidFill>
                  <a:srgbClr val="000000"/>
                </a:solidFill>
                <a:effectLst/>
                <a:latin typeface="Times New Roman" panose="02020603050405020304" pitchFamily="18" charset="0"/>
              </a:rPr>
              <a:t>facilitates efficient motor control, ensuring smooth movement adjustments. The robot follows a </a:t>
            </a:r>
            <a:r>
              <a:rPr lang="en-US" sz="1800" b="1" dirty="0">
                <a:solidFill>
                  <a:srgbClr val="000000"/>
                </a:solidFill>
                <a:effectLst/>
                <a:latin typeface="TimesNewRomanPS-BoldMT"/>
              </a:rPr>
              <a:t>sense-think-act </a:t>
            </a:r>
            <a:r>
              <a:rPr lang="en-US" sz="1800" dirty="0">
                <a:solidFill>
                  <a:srgbClr val="000000"/>
                </a:solidFill>
                <a:effectLst/>
                <a:latin typeface="Times New Roman" panose="02020603050405020304" pitchFamily="18" charset="0"/>
              </a:rPr>
              <a:t>mechanism, where real-time sensor data enables quick decisions for obstacle avoidance. This system is ideal for automation, security patrols, smart mobility, and educational robotics, improving efficiency and reducing human intervention in hazardous environments</a:t>
            </a:r>
            <a:endParaRPr lang="en-IN" dirty="0"/>
          </a:p>
        </p:txBody>
      </p:sp>
    </p:spTree>
    <p:extLst>
      <p:ext uri="{BB962C8B-B14F-4D97-AF65-F5344CB8AC3E}">
        <p14:creationId xmlns:p14="http://schemas.microsoft.com/office/powerpoint/2010/main" val="3199514668"/>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9A263B-8A7B-0042-97C3-710B08B5189E}"/>
              </a:ext>
            </a:extLst>
          </p:cNvPr>
          <p:cNvSpPr>
            <a:spLocks noGrp="1"/>
          </p:cNvSpPr>
          <p:nvPr>
            <p:ph type="title"/>
          </p:nvPr>
        </p:nvSpPr>
        <p:spPr>
          <a:xfrm>
            <a:off x="4430111" y="811736"/>
            <a:ext cx="7067271" cy="1044524"/>
          </a:xfrm>
        </p:spPr>
        <p:txBody>
          <a:bodyPr>
            <a:normAutofit/>
          </a:bodyPr>
          <a:lstStyle/>
          <a:p>
            <a:r>
              <a:rPr lang="en-US" sz="4000" b="1" dirty="0">
                <a:latin typeface="Times New Roman" pitchFamily="18" charset="0"/>
                <a:cs typeface="Times New Roman" pitchFamily="18" charset="0"/>
              </a:rPr>
              <a:t>Objectives</a:t>
            </a:r>
          </a:p>
        </p:txBody>
      </p:sp>
      <p:pic>
        <p:nvPicPr>
          <p:cNvPr id="2" name="Picture 1">
            <a:extLst>
              <a:ext uri="{FF2B5EF4-FFF2-40B4-BE49-F238E27FC236}">
                <a16:creationId xmlns:a16="http://schemas.microsoft.com/office/drawing/2014/main" id="{CD169F74-D6C0-8BEF-7096-EA71E75808BF}"/>
              </a:ext>
            </a:extLst>
          </p:cNvPr>
          <p:cNvPicPr>
            <a:picLocks noChangeAspect="1"/>
          </p:cNvPicPr>
          <p:nvPr/>
        </p:nvPicPr>
        <p:blipFill>
          <a:blip r:embed="rId2"/>
          <a:srcRect/>
          <a:stretch>
            <a:fillRect/>
          </a:stretch>
        </p:blipFill>
        <p:spPr bwMode="auto">
          <a:xfrm>
            <a:off x="111124" y="119906"/>
            <a:ext cx="6589454" cy="567774"/>
          </a:xfrm>
          <a:prstGeom prst="rect">
            <a:avLst/>
          </a:prstGeom>
          <a:noFill/>
          <a:ln w="9525">
            <a:noFill/>
            <a:miter lim="800000"/>
            <a:headEnd/>
            <a:tailEnd/>
          </a:ln>
        </p:spPr>
      </p:pic>
      <p:sp>
        <p:nvSpPr>
          <p:cNvPr id="3" name="Rectangle 2">
            <a:extLst>
              <a:ext uri="{FF2B5EF4-FFF2-40B4-BE49-F238E27FC236}">
                <a16:creationId xmlns:a16="http://schemas.microsoft.com/office/drawing/2014/main" id="{FE85E8E6-13CB-02FE-CDCC-325EEBF942B7}"/>
              </a:ext>
            </a:extLst>
          </p:cNvPr>
          <p:cNvSpPr/>
          <p:nvPr/>
        </p:nvSpPr>
        <p:spPr>
          <a:xfrm>
            <a:off x="-10160" y="6431280"/>
            <a:ext cx="12192000" cy="4267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i="1" dirty="0">
                <a:latin typeface="Times New Roman" panose="02020603050405020304" pitchFamily="18" charset="0"/>
                <a:cs typeface="Times New Roman" panose="02020603050405020304" pitchFamily="18" charset="0"/>
              </a:rPr>
              <a:t>Department of CSE – (IoT &amp; CSBT)                                                                                                                                       2025-26</a:t>
            </a:r>
            <a:endParaRPr lang="en-IN" dirty="0"/>
          </a:p>
        </p:txBody>
      </p:sp>
      <p:sp>
        <p:nvSpPr>
          <p:cNvPr id="6" name="TextBox 5">
            <a:extLst>
              <a:ext uri="{FF2B5EF4-FFF2-40B4-BE49-F238E27FC236}">
                <a16:creationId xmlns:a16="http://schemas.microsoft.com/office/drawing/2014/main" id="{0EF2C488-2524-8DC6-9528-524003A0C288}"/>
              </a:ext>
            </a:extLst>
          </p:cNvPr>
          <p:cNvSpPr txBox="1"/>
          <p:nvPr/>
        </p:nvSpPr>
        <p:spPr>
          <a:xfrm>
            <a:off x="3006790" y="2302830"/>
            <a:ext cx="6125546" cy="2308324"/>
          </a:xfrm>
          <a:prstGeom prst="rect">
            <a:avLst/>
          </a:prstGeom>
          <a:noFill/>
        </p:spPr>
        <p:txBody>
          <a:bodyPr wrap="square">
            <a:spAutoFit/>
          </a:bodyPr>
          <a:lstStyle/>
          <a:p>
            <a:pPr marL="285750" indent="-285750" algn="just">
              <a:buFont typeface="Arial" panose="020B0604020202020204" pitchFamily="34" charset="0"/>
              <a:buChar char="•"/>
            </a:pPr>
            <a:r>
              <a:rPr lang="en-US" sz="1800" dirty="0">
                <a:solidFill>
                  <a:srgbClr val="000000"/>
                </a:solidFill>
                <a:effectLst/>
                <a:latin typeface="Times New Roman" panose="02020603050405020304" pitchFamily="18" charset="0"/>
              </a:rPr>
              <a:t>To design and build an autonomous robot using Arduino. </a:t>
            </a:r>
            <a:endParaRPr lang="en-US" dirty="0"/>
          </a:p>
          <a:p>
            <a:pPr marL="285750" indent="-285750" algn="just">
              <a:buFont typeface="Arial" panose="020B0604020202020204" pitchFamily="34" charset="0"/>
              <a:buChar char="•"/>
            </a:pPr>
            <a:r>
              <a:rPr lang="en-US" sz="1800" dirty="0">
                <a:solidFill>
                  <a:srgbClr val="000000"/>
                </a:solidFill>
                <a:effectLst/>
                <a:latin typeface="Times New Roman" panose="02020603050405020304" pitchFamily="18" charset="0"/>
              </a:rPr>
              <a:t>To integrate ultrasonic sensors for obstacle detection. </a:t>
            </a:r>
            <a:endParaRPr lang="en-US" dirty="0"/>
          </a:p>
          <a:p>
            <a:pPr marL="285750" indent="-285750" algn="just">
              <a:buFont typeface="Arial" panose="020B0604020202020204" pitchFamily="34" charset="0"/>
              <a:buChar char="•"/>
            </a:pPr>
            <a:r>
              <a:rPr lang="en-US" sz="1800" dirty="0">
                <a:solidFill>
                  <a:srgbClr val="000000"/>
                </a:solidFill>
                <a:effectLst/>
                <a:latin typeface="Times New Roman" panose="02020603050405020304" pitchFamily="18" charset="0"/>
              </a:rPr>
              <a:t>To program the robot to navigate by avoiding obstacles in real time. </a:t>
            </a:r>
            <a:endParaRPr lang="en-US" dirty="0"/>
          </a:p>
          <a:p>
            <a:pPr marL="285750" indent="-285750" algn="just">
              <a:buFont typeface="Arial" panose="020B0604020202020204" pitchFamily="34" charset="0"/>
              <a:buChar char="•"/>
            </a:pPr>
            <a:r>
              <a:rPr lang="en-US" sz="1800" dirty="0">
                <a:solidFill>
                  <a:srgbClr val="000000"/>
                </a:solidFill>
                <a:effectLst/>
                <a:latin typeface="Times New Roman" panose="02020603050405020304" pitchFamily="18" charset="0"/>
              </a:rPr>
              <a:t>To understand the working and interfacing of Arduino and motor drivers. </a:t>
            </a:r>
            <a:endParaRPr lang="en-US" dirty="0"/>
          </a:p>
          <a:p>
            <a:pPr marL="285750" indent="-285750" algn="just">
              <a:buFont typeface="Arial" panose="020B0604020202020204" pitchFamily="34" charset="0"/>
              <a:buChar char="•"/>
            </a:pPr>
            <a:r>
              <a:rPr lang="en-US" sz="1800" dirty="0">
                <a:solidFill>
                  <a:srgbClr val="000000"/>
                </a:solidFill>
                <a:effectLst/>
                <a:latin typeface="Times New Roman" panose="02020603050405020304" pitchFamily="18" charset="0"/>
              </a:rPr>
              <a:t>To encourage interest and learning in robotics and embedded systems.</a:t>
            </a:r>
            <a:endParaRPr lang="en-IN" dirty="0"/>
          </a:p>
        </p:txBody>
      </p:sp>
    </p:spTree>
    <p:extLst>
      <p:ext uri="{BB962C8B-B14F-4D97-AF65-F5344CB8AC3E}">
        <p14:creationId xmlns:p14="http://schemas.microsoft.com/office/powerpoint/2010/main" val="3767854366"/>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9A263B-8A7B-0042-97C3-710B08B5189E}"/>
              </a:ext>
            </a:extLst>
          </p:cNvPr>
          <p:cNvSpPr>
            <a:spLocks noGrp="1"/>
          </p:cNvSpPr>
          <p:nvPr>
            <p:ph type="title"/>
          </p:nvPr>
        </p:nvSpPr>
        <p:spPr>
          <a:xfrm>
            <a:off x="4635385" y="939756"/>
            <a:ext cx="7067271" cy="1044524"/>
          </a:xfrm>
        </p:spPr>
        <p:txBody>
          <a:bodyPr>
            <a:normAutofit/>
          </a:bodyPr>
          <a:lstStyle/>
          <a:p>
            <a:r>
              <a:rPr lang="en-US" sz="4000" b="1" dirty="0">
                <a:latin typeface="Times New Roman" pitchFamily="18" charset="0"/>
                <a:cs typeface="Times New Roman" pitchFamily="18" charset="0"/>
              </a:rPr>
              <a:t>Motivation</a:t>
            </a:r>
          </a:p>
        </p:txBody>
      </p:sp>
      <p:pic>
        <p:nvPicPr>
          <p:cNvPr id="2" name="Picture 1">
            <a:extLst>
              <a:ext uri="{FF2B5EF4-FFF2-40B4-BE49-F238E27FC236}">
                <a16:creationId xmlns:a16="http://schemas.microsoft.com/office/drawing/2014/main" id="{90FF494E-D063-9F86-3762-6FD71D10CD5D}"/>
              </a:ext>
            </a:extLst>
          </p:cNvPr>
          <p:cNvPicPr>
            <a:picLocks noChangeAspect="1"/>
          </p:cNvPicPr>
          <p:nvPr/>
        </p:nvPicPr>
        <p:blipFill>
          <a:blip r:embed="rId2"/>
          <a:srcRect/>
          <a:stretch>
            <a:fillRect/>
          </a:stretch>
        </p:blipFill>
        <p:spPr bwMode="auto">
          <a:xfrm>
            <a:off x="111124" y="119906"/>
            <a:ext cx="6589454" cy="567774"/>
          </a:xfrm>
          <a:prstGeom prst="rect">
            <a:avLst/>
          </a:prstGeom>
          <a:noFill/>
          <a:ln w="9525">
            <a:noFill/>
            <a:miter lim="800000"/>
            <a:headEnd/>
            <a:tailEnd/>
          </a:ln>
        </p:spPr>
      </p:pic>
      <p:sp>
        <p:nvSpPr>
          <p:cNvPr id="3" name="Rectangle 2">
            <a:extLst>
              <a:ext uri="{FF2B5EF4-FFF2-40B4-BE49-F238E27FC236}">
                <a16:creationId xmlns:a16="http://schemas.microsoft.com/office/drawing/2014/main" id="{A71A7FD3-7048-02D9-039E-3E0DABBB81F8}"/>
              </a:ext>
            </a:extLst>
          </p:cNvPr>
          <p:cNvSpPr/>
          <p:nvPr/>
        </p:nvSpPr>
        <p:spPr>
          <a:xfrm>
            <a:off x="-10160" y="6431280"/>
            <a:ext cx="12192000" cy="4267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i="1" dirty="0">
                <a:latin typeface="Times New Roman" panose="02020603050405020304" pitchFamily="18" charset="0"/>
                <a:cs typeface="Times New Roman" panose="02020603050405020304" pitchFamily="18" charset="0"/>
              </a:rPr>
              <a:t>Department of CSE – (IoT &amp; CSBT)                                                                                                                                       2025-26</a:t>
            </a:r>
            <a:endParaRPr lang="en-IN" dirty="0"/>
          </a:p>
        </p:txBody>
      </p:sp>
      <p:sp>
        <p:nvSpPr>
          <p:cNvPr id="6" name="TextBox 5">
            <a:extLst>
              <a:ext uri="{FF2B5EF4-FFF2-40B4-BE49-F238E27FC236}">
                <a16:creationId xmlns:a16="http://schemas.microsoft.com/office/drawing/2014/main" id="{D3DCFE8B-54B8-BA08-37ED-8BC32A568830}"/>
              </a:ext>
            </a:extLst>
          </p:cNvPr>
          <p:cNvSpPr txBox="1"/>
          <p:nvPr/>
        </p:nvSpPr>
        <p:spPr>
          <a:xfrm>
            <a:off x="3006790" y="2441330"/>
            <a:ext cx="6125546" cy="2031325"/>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The project is motivated by the need to provide safe and intelligent navigation support for visually-impaired individuals. Traditional tools like white canes cannot detect obstacles at a distance or guide users in real time. With low-cost sensors like ultrasonic modules and efficient motor control, a smart obstacle-avoiding robot can help users move safely, reduce accidents, and improve their independence in daily life.</a:t>
            </a:r>
          </a:p>
        </p:txBody>
      </p:sp>
    </p:spTree>
    <p:extLst>
      <p:ext uri="{BB962C8B-B14F-4D97-AF65-F5344CB8AC3E}">
        <p14:creationId xmlns:p14="http://schemas.microsoft.com/office/powerpoint/2010/main" val="3232047531"/>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9A263B-8A7B-0042-97C3-710B08B5189E}"/>
              </a:ext>
            </a:extLst>
          </p:cNvPr>
          <p:cNvSpPr>
            <a:spLocks noGrp="1"/>
          </p:cNvSpPr>
          <p:nvPr>
            <p:ph type="title"/>
          </p:nvPr>
        </p:nvSpPr>
        <p:spPr>
          <a:xfrm>
            <a:off x="4571792" y="532627"/>
            <a:ext cx="8956040" cy="1325563"/>
          </a:xfrm>
        </p:spPr>
        <p:txBody>
          <a:bodyPr>
            <a:normAutofit/>
          </a:bodyPr>
          <a:lstStyle/>
          <a:p>
            <a:r>
              <a:rPr lang="en-US" sz="4000" b="1" dirty="0">
                <a:latin typeface="Times New Roman" pitchFamily="18" charset="0"/>
                <a:cs typeface="Times New Roman" pitchFamily="18" charset="0"/>
              </a:rPr>
              <a:t>Challenges</a:t>
            </a:r>
          </a:p>
        </p:txBody>
      </p:sp>
      <p:sp>
        <p:nvSpPr>
          <p:cNvPr id="2" name="Title 3">
            <a:extLst>
              <a:ext uri="{FF2B5EF4-FFF2-40B4-BE49-F238E27FC236}">
                <a16:creationId xmlns:a16="http://schemas.microsoft.com/office/drawing/2014/main" id="{8BDA2270-9901-6206-0B34-DB02B05272F2}"/>
              </a:ext>
            </a:extLst>
          </p:cNvPr>
          <p:cNvSpPr txBox="1">
            <a:spLocks/>
          </p:cNvSpPr>
          <p:nvPr/>
        </p:nvSpPr>
        <p:spPr>
          <a:xfrm>
            <a:off x="579120" y="1858002"/>
            <a:ext cx="10962640" cy="42379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500" dirty="0">
              <a:latin typeface="Times New Roman" pitchFamily="18" charset="0"/>
              <a:cs typeface="Times New Roman" pitchFamily="18" charset="0"/>
            </a:endParaRPr>
          </a:p>
          <a:p>
            <a:r>
              <a:rPr lang="en-US" sz="2500" dirty="0">
                <a:latin typeface="Times New Roman" pitchFamily="18" charset="0"/>
                <a:cs typeface="Times New Roman" pitchFamily="18" charset="0"/>
              </a:rPr>
              <a:t> </a:t>
            </a:r>
          </a:p>
          <a:p>
            <a:r>
              <a:rPr lang="en-US" sz="2500" dirty="0">
                <a:latin typeface="Times New Roman" pitchFamily="18" charset="0"/>
                <a:cs typeface="Times New Roman" pitchFamily="18" charset="0"/>
              </a:rPr>
              <a:t>	</a:t>
            </a:r>
          </a:p>
          <a:p>
            <a:r>
              <a:rPr lang="en-US" sz="4000" b="1" dirty="0">
                <a:latin typeface="Times New Roman" pitchFamily="18" charset="0"/>
                <a:cs typeface="Times New Roman" pitchFamily="18" charset="0"/>
              </a:rPr>
              <a:t> </a:t>
            </a:r>
          </a:p>
        </p:txBody>
      </p:sp>
      <p:pic>
        <p:nvPicPr>
          <p:cNvPr id="3" name="Picture 2">
            <a:extLst>
              <a:ext uri="{FF2B5EF4-FFF2-40B4-BE49-F238E27FC236}">
                <a16:creationId xmlns:a16="http://schemas.microsoft.com/office/drawing/2014/main" id="{32927E70-7D9C-5CEF-AF80-4BBADA9496DC}"/>
              </a:ext>
            </a:extLst>
          </p:cNvPr>
          <p:cNvPicPr>
            <a:picLocks noChangeAspect="1"/>
          </p:cNvPicPr>
          <p:nvPr/>
        </p:nvPicPr>
        <p:blipFill>
          <a:blip r:embed="rId2"/>
          <a:srcRect/>
          <a:stretch>
            <a:fillRect/>
          </a:stretch>
        </p:blipFill>
        <p:spPr bwMode="auto">
          <a:xfrm>
            <a:off x="111124" y="119906"/>
            <a:ext cx="6589454" cy="567774"/>
          </a:xfrm>
          <a:prstGeom prst="rect">
            <a:avLst/>
          </a:prstGeom>
          <a:noFill/>
          <a:ln w="9525">
            <a:noFill/>
            <a:miter lim="800000"/>
            <a:headEnd/>
            <a:tailEnd/>
          </a:ln>
        </p:spPr>
      </p:pic>
      <p:sp>
        <p:nvSpPr>
          <p:cNvPr id="5" name="Rectangle 4">
            <a:extLst>
              <a:ext uri="{FF2B5EF4-FFF2-40B4-BE49-F238E27FC236}">
                <a16:creationId xmlns:a16="http://schemas.microsoft.com/office/drawing/2014/main" id="{6A14D138-C3D2-745C-1CB6-36C7E88394A6}"/>
              </a:ext>
            </a:extLst>
          </p:cNvPr>
          <p:cNvSpPr/>
          <p:nvPr/>
        </p:nvSpPr>
        <p:spPr>
          <a:xfrm>
            <a:off x="-10160" y="6431280"/>
            <a:ext cx="12192000" cy="4267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i="1" dirty="0">
                <a:latin typeface="Times New Roman" panose="02020603050405020304" pitchFamily="18" charset="0"/>
                <a:cs typeface="Times New Roman" panose="02020603050405020304" pitchFamily="18" charset="0"/>
              </a:rPr>
              <a:t>Department of CSE – (IoT &amp; CSBT)                                                                                                                                       2025-26</a:t>
            </a:r>
            <a:endParaRPr lang="en-IN" dirty="0"/>
          </a:p>
        </p:txBody>
      </p:sp>
      <p:sp>
        <p:nvSpPr>
          <p:cNvPr id="7" name="TextBox 6">
            <a:extLst>
              <a:ext uri="{FF2B5EF4-FFF2-40B4-BE49-F238E27FC236}">
                <a16:creationId xmlns:a16="http://schemas.microsoft.com/office/drawing/2014/main" id="{F3FBF8C4-6291-7D9E-57C6-C2FAE11670C1}"/>
              </a:ext>
            </a:extLst>
          </p:cNvPr>
          <p:cNvSpPr txBox="1"/>
          <p:nvPr/>
        </p:nvSpPr>
        <p:spPr>
          <a:xfrm>
            <a:off x="3006790" y="2025831"/>
            <a:ext cx="6125546" cy="3416320"/>
          </a:xfrm>
          <a:prstGeom prst="rect">
            <a:avLst/>
          </a:prstGeom>
          <a:noFill/>
        </p:spPr>
        <p:txBody>
          <a:bodyPr wrap="square">
            <a:spAutoFit/>
          </a:bodyPr>
          <a:lstStyle/>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Sensor inaccuracies due to noise, blind spots, or inconsistent distance readings.</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Environmental issues like varying light, rough surfaces, and unexpected obstacles affecting detection.</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Hardware limitations, including limited range of ultrasonic sensors and motor driver constraints.</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Power management challenges in maintaining stable voltage for sensors and motors.</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Integration issues while combining Arduino, sensors, and motors for synchronized operation.</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Calibration difficulties to achieve accurate obstacle detection and smooth movement.</a:t>
            </a:r>
          </a:p>
        </p:txBody>
      </p:sp>
    </p:spTree>
    <p:extLst>
      <p:ext uri="{BB962C8B-B14F-4D97-AF65-F5344CB8AC3E}">
        <p14:creationId xmlns:p14="http://schemas.microsoft.com/office/powerpoint/2010/main" val="665110794"/>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3">
            <a:extLst>
              <a:ext uri="{FF2B5EF4-FFF2-40B4-BE49-F238E27FC236}">
                <a16:creationId xmlns:a16="http://schemas.microsoft.com/office/drawing/2014/main" id="{6DBB75A8-FD8F-7DAF-A7E5-D606EC2A2F76}"/>
              </a:ext>
            </a:extLst>
          </p:cNvPr>
          <p:cNvSpPr>
            <a:spLocks noGrp="1"/>
          </p:cNvSpPr>
          <p:nvPr>
            <p:ph type="title"/>
          </p:nvPr>
        </p:nvSpPr>
        <p:spPr>
          <a:xfrm>
            <a:off x="4394511" y="970973"/>
            <a:ext cx="8956040" cy="1325563"/>
          </a:xfrm>
        </p:spPr>
        <p:txBody>
          <a:bodyPr>
            <a:normAutofit/>
          </a:bodyPr>
          <a:lstStyle/>
          <a:p>
            <a:r>
              <a:rPr lang="en-US" sz="4000" b="1" dirty="0">
                <a:latin typeface="Times New Roman" pitchFamily="18" charset="0"/>
                <a:cs typeface="Times New Roman" pitchFamily="18" charset="0"/>
              </a:rPr>
              <a:t>Applications</a:t>
            </a:r>
            <a:br>
              <a:rPr lang="en-US" sz="4000" b="1" dirty="0">
                <a:latin typeface="Times New Roman" pitchFamily="18" charset="0"/>
                <a:cs typeface="Times New Roman" pitchFamily="18" charset="0"/>
              </a:rPr>
            </a:br>
            <a:endParaRPr lang="en-US" sz="4000" b="1" dirty="0">
              <a:latin typeface="Times New Roman" pitchFamily="18" charset="0"/>
              <a:cs typeface="Times New Roman" pitchFamily="18" charset="0"/>
            </a:endParaRPr>
          </a:p>
        </p:txBody>
      </p:sp>
      <p:pic>
        <p:nvPicPr>
          <p:cNvPr id="2" name="Picture 1">
            <a:extLst>
              <a:ext uri="{FF2B5EF4-FFF2-40B4-BE49-F238E27FC236}">
                <a16:creationId xmlns:a16="http://schemas.microsoft.com/office/drawing/2014/main" id="{0F8F936F-6355-4505-D1DB-BF87A629BC6B}"/>
              </a:ext>
            </a:extLst>
          </p:cNvPr>
          <p:cNvPicPr>
            <a:picLocks noChangeAspect="1"/>
          </p:cNvPicPr>
          <p:nvPr/>
        </p:nvPicPr>
        <p:blipFill>
          <a:blip r:embed="rId2"/>
          <a:srcRect/>
          <a:stretch>
            <a:fillRect/>
          </a:stretch>
        </p:blipFill>
        <p:spPr bwMode="auto">
          <a:xfrm>
            <a:off x="111124" y="119906"/>
            <a:ext cx="6589454" cy="567774"/>
          </a:xfrm>
          <a:prstGeom prst="rect">
            <a:avLst/>
          </a:prstGeom>
          <a:noFill/>
          <a:ln w="9525">
            <a:noFill/>
            <a:miter lim="800000"/>
            <a:headEnd/>
            <a:tailEnd/>
          </a:ln>
        </p:spPr>
      </p:pic>
      <p:sp>
        <p:nvSpPr>
          <p:cNvPr id="3" name="Rectangle 2">
            <a:extLst>
              <a:ext uri="{FF2B5EF4-FFF2-40B4-BE49-F238E27FC236}">
                <a16:creationId xmlns:a16="http://schemas.microsoft.com/office/drawing/2014/main" id="{FB759550-EB2E-B722-5517-2A91D4989741}"/>
              </a:ext>
            </a:extLst>
          </p:cNvPr>
          <p:cNvSpPr/>
          <p:nvPr/>
        </p:nvSpPr>
        <p:spPr>
          <a:xfrm>
            <a:off x="-10160" y="6431280"/>
            <a:ext cx="12192000" cy="4267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i="1" dirty="0">
                <a:latin typeface="Times New Roman" panose="02020603050405020304" pitchFamily="18" charset="0"/>
                <a:cs typeface="Times New Roman" panose="02020603050405020304" pitchFamily="18" charset="0"/>
              </a:rPr>
              <a:t>Department of CSE – (IoT &amp; CSBT)                                                                                                                                       2025-26</a:t>
            </a:r>
            <a:endParaRPr lang="en-IN" dirty="0"/>
          </a:p>
        </p:txBody>
      </p:sp>
      <p:sp>
        <p:nvSpPr>
          <p:cNvPr id="5" name="TextBox 4">
            <a:extLst>
              <a:ext uri="{FF2B5EF4-FFF2-40B4-BE49-F238E27FC236}">
                <a16:creationId xmlns:a16="http://schemas.microsoft.com/office/drawing/2014/main" id="{A5D16EBD-7B78-8E58-9CC9-2CCB51640B46}"/>
              </a:ext>
            </a:extLst>
          </p:cNvPr>
          <p:cNvSpPr txBox="1"/>
          <p:nvPr/>
        </p:nvSpPr>
        <p:spPr>
          <a:xfrm>
            <a:off x="3006790" y="2579829"/>
            <a:ext cx="6125546" cy="2031325"/>
          </a:xfrm>
          <a:prstGeom prst="rect">
            <a:avLst/>
          </a:prstGeom>
          <a:noFill/>
        </p:spPr>
        <p:txBody>
          <a:bodyPr wrap="square">
            <a:spAutoFit/>
          </a:bodyPr>
          <a:lstStyle/>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Used for safe navigation for visually-impaired individuals.</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Helps in autonomous robots to avoid obstacles in real time.</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Useful in smart mobility systems like indoor delivery robots.</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Supports industrial automation for collision-free robot movement.</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Can be applied in surveillance and rescue robots for safe path navigation.</a:t>
            </a:r>
          </a:p>
        </p:txBody>
      </p:sp>
    </p:spTree>
    <p:extLst>
      <p:ext uri="{BB962C8B-B14F-4D97-AF65-F5344CB8AC3E}">
        <p14:creationId xmlns:p14="http://schemas.microsoft.com/office/powerpoint/2010/main" val="638375134"/>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9A263B-8A7B-0042-97C3-710B08B5189E}"/>
              </a:ext>
            </a:extLst>
          </p:cNvPr>
          <p:cNvSpPr>
            <a:spLocks noGrp="1"/>
          </p:cNvSpPr>
          <p:nvPr>
            <p:ph type="title"/>
          </p:nvPr>
        </p:nvSpPr>
        <p:spPr>
          <a:xfrm>
            <a:off x="1838132" y="762001"/>
            <a:ext cx="9324696" cy="1325563"/>
          </a:xfrm>
        </p:spPr>
        <p:txBody>
          <a:bodyPr>
            <a:normAutofit/>
          </a:bodyPr>
          <a:lstStyle/>
          <a:p>
            <a:r>
              <a:rPr lang="en-US" sz="4000" b="1" dirty="0">
                <a:latin typeface="Times New Roman" pitchFamily="18" charset="0"/>
                <a:cs typeface="Times New Roman" pitchFamily="18" charset="0"/>
              </a:rPr>
              <a:t>Hardware and Software Requirements</a:t>
            </a:r>
            <a:br>
              <a:rPr lang="en-US" sz="4000" b="1" dirty="0">
                <a:latin typeface="Times New Roman" pitchFamily="18" charset="0"/>
                <a:cs typeface="Times New Roman" pitchFamily="18" charset="0"/>
              </a:rPr>
            </a:br>
            <a:endParaRPr lang="en-US" sz="4000" b="1" dirty="0">
              <a:latin typeface="Times New Roman" pitchFamily="18" charset="0"/>
              <a:cs typeface="Times New Roman" pitchFamily="18" charset="0"/>
            </a:endParaRPr>
          </a:p>
        </p:txBody>
      </p:sp>
      <p:sp>
        <p:nvSpPr>
          <p:cNvPr id="2" name="Title 3">
            <a:extLst>
              <a:ext uri="{FF2B5EF4-FFF2-40B4-BE49-F238E27FC236}">
                <a16:creationId xmlns:a16="http://schemas.microsoft.com/office/drawing/2014/main" id="{8BDA2270-9901-6206-0B34-DB02B05272F2}"/>
              </a:ext>
            </a:extLst>
          </p:cNvPr>
          <p:cNvSpPr txBox="1">
            <a:spLocks/>
          </p:cNvSpPr>
          <p:nvPr/>
        </p:nvSpPr>
        <p:spPr>
          <a:xfrm>
            <a:off x="579120" y="1858002"/>
            <a:ext cx="10962640" cy="42379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500" dirty="0">
              <a:latin typeface="Times New Roman" pitchFamily="18" charset="0"/>
              <a:cs typeface="Times New Roman" pitchFamily="18" charset="0"/>
            </a:endParaRPr>
          </a:p>
          <a:p>
            <a:r>
              <a:rPr lang="en-US" sz="2500" dirty="0">
                <a:latin typeface="Times New Roman" pitchFamily="18" charset="0"/>
                <a:cs typeface="Times New Roman" pitchFamily="18" charset="0"/>
              </a:rPr>
              <a:t> </a:t>
            </a:r>
          </a:p>
          <a:p>
            <a:r>
              <a:rPr lang="en-US" sz="2500" dirty="0">
                <a:latin typeface="Times New Roman" pitchFamily="18" charset="0"/>
                <a:cs typeface="Times New Roman" pitchFamily="18" charset="0"/>
              </a:rPr>
              <a:t>	</a:t>
            </a:r>
          </a:p>
          <a:p>
            <a:r>
              <a:rPr lang="en-US" sz="4000" b="1" dirty="0">
                <a:latin typeface="Times New Roman" pitchFamily="18" charset="0"/>
                <a:cs typeface="Times New Roman" pitchFamily="18" charset="0"/>
              </a:rPr>
              <a:t> </a:t>
            </a:r>
          </a:p>
        </p:txBody>
      </p:sp>
      <p:pic>
        <p:nvPicPr>
          <p:cNvPr id="3" name="Picture 2">
            <a:extLst>
              <a:ext uri="{FF2B5EF4-FFF2-40B4-BE49-F238E27FC236}">
                <a16:creationId xmlns:a16="http://schemas.microsoft.com/office/drawing/2014/main" id="{4A477CD9-4C48-E3D8-5C32-3020F07D4D79}"/>
              </a:ext>
            </a:extLst>
          </p:cNvPr>
          <p:cNvPicPr>
            <a:picLocks noChangeAspect="1"/>
          </p:cNvPicPr>
          <p:nvPr/>
        </p:nvPicPr>
        <p:blipFill>
          <a:blip r:embed="rId2"/>
          <a:srcRect/>
          <a:stretch>
            <a:fillRect/>
          </a:stretch>
        </p:blipFill>
        <p:spPr bwMode="auto">
          <a:xfrm>
            <a:off x="111124" y="119906"/>
            <a:ext cx="6589454" cy="567774"/>
          </a:xfrm>
          <a:prstGeom prst="rect">
            <a:avLst/>
          </a:prstGeom>
          <a:noFill/>
          <a:ln w="9525">
            <a:noFill/>
            <a:miter lim="800000"/>
            <a:headEnd/>
            <a:tailEnd/>
          </a:ln>
        </p:spPr>
      </p:pic>
      <p:sp>
        <p:nvSpPr>
          <p:cNvPr id="5" name="Rectangle 4">
            <a:extLst>
              <a:ext uri="{FF2B5EF4-FFF2-40B4-BE49-F238E27FC236}">
                <a16:creationId xmlns:a16="http://schemas.microsoft.com/office/drawing/2014/main" id="{8BE99501-47D7-DD8E-FF3D-9C1B7930BB5F}"/>
              </a:ext>
            </a:extLst>
          </p:cNvPr>
          <p:cNvSpPr/>
          <p:nvPr/>
        </p:nvSpPr>
        <p:spPr>
          <a:xfrm>
            <a:off x="-10160" y="6431280"/>
            <a:ext cx="12192000" cy="4267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i="1" dirty="0">
                <a:latin typeface="Times New Roman" panose="02020603050405020304" pitchFamily="18" charset="0"/>
                <a:cs typeface="Times New Roman" panose="02020603050405020304" pitchFamily="18" charset="0"/>
              </a:rPr>
              <a:t>Department of CSE – (IoT &amp; CSBT)                                                                                                                                       2025-26</a:t>
            </a:r>
            <a:endParaRPr lang="en-IN" dirty="0"/>
          </a:p>
        </p:txBody>
      </p:sp>
      <p:sp>
        <p:nvSpPr>
          <p:cNvPr id="7" name="TextBox 6">
            <a:extLst>
              <a:ext uri="{FF2B5EF4-FFF2-40B4-BE49-F238E27FC236}">
                <a16:creationId xmlns:a16="http://schemas.microsoft.com/office/drawing/2014/main" id="{D091A4F2-5B9A-0A46-7AD2-4E42422FDD6B}"/>
              </a:ext>
            </a:extLst>
          </p:cNvPr>
          <p:cNvSpPr txBox="1"/>
          <p:nvPr/>
        </p:nvSpPr>
        <p:spPr>
          <a:xfrm>
            <a:off x="134694" y="1576343"/>
            <a:ext cx="8300180" cy="2215991"/>
          </a:xfrm>
          <a:prstGeom prst="rect">
            <a:avLst/>
          </a:prstGeom>
          <a:noFill/>
        </p:spPr>
        <p:txBody>
          <a:bodyPr wrap="square">
            <a:spAutoFit/>
          </a:bodyPr>
          <a:lstStyle/>
          <a:p>
            <a:pPr algn="just">
              <a:buNone/>
            </a:pPr>
            <a:r>
              <a:rPr lang="en-IN" sz="2400" b="1" dirty="0">
                <a:solidFill>
                  <a:srgbClr val="000000"/>
                </a:solidFill>
                <a:effectLst/>
                <a:latin typeface="TimesNewRomanPS-BoldMT"/>
              </a:rPr>
              <a:t>Hardware Requirements </a:t>
            </a:r>
            <a:endParaRPr lang="en-IN" dirty="0"/>
          </a:p>
          <a:p>
            <a:pPr algn="just">
              <a:buNone/>
            </a:pPr>
            <a:r>
              <a:rPr lang="en-IN" sz="1400" dirty="0">
                <a:solidFill>
                  <a:srgbClr val="000000"/>
                </a:solidFill>
                <a:effectLst/>
                <a:latin typeface="Times New Roman" panose="02020603050405020304" pitchFamily="18" charset="0"/>
              </a:rPr>
              <a:t>1.</a:t>
            </a:r>
            <a:r>
              <a:rPr lang="en-IN" sz="1600" dirty="0">
                <a:solidFill>
                  <a:srgbClr val="000000"/>
                </a:solidFill>
                <a:effectLst/>
                <a:latin typeface="Times New Roman" panose="02020603050405020304" pitchFamily="18" charset="0"/>
              </a:rPr>
              <a:t>Arduino Uno – Main microcontroller for processing data. </a:t>
            </a:r>
            <a:endParaRPr lang="en-IN" sz="1600" dirty="0"/>
          </a:p>
          <a:p>
            <a:pPr algn="just">
              <a:buNone/>
            </a:pPr>
            <a:r>
              <a:rPr lang="en-IN" sz="1400" dirty="0">
                <a:solidFill>
                  <a:srgbClr val="000000"/>
                </a:solidFill>
                <a:effectLst/>
                <a:latin typeface="Times New Roman" panose="02020603050405020304" pitchFamily="18" charset="0"/>
              </a:rPr>
              <a:t>2. </a:t>
            </a:r>
            <a:r>
              <a:rPr lang="en-IN" sz="1600" dirty="0">
                <a:solidFill>
                  <a:srgbClr val="000000"/>
                </a:solidFill>
                <a:effectLst/>
                <a:latin typeface="Times New Roman" panose="02020603050405020304" pitchFamily="18" charset="0"/>
              </a:rPr>
              <a:t>Ultrasonic Sensor (HC-SR04 or Ping) – Detects obstacles using ultrasonic waves. </a:t>
            </a:r>
            <a:endParaRPr lang="en-IN" sz="1600" dirty="0"/>
          </a:p>
          <a:p>
            <a:pPr algn="just">
              <a:buNone/>
            </a:pPr>
            <a:r>
              <a:rPr lang="en-IN" sz="1400" dirty="0">
                <a:solidFill>
                  <a:srgbClr val="000000"/>
                </a:solidFill>
                <a:effectLst/>
                <a:latin typeface="Times New Roman" panose="02020603050405020304" pitchFamily="18" charset="0"/>
              </a:rPr>
              <a:t>3. </a:t>
            </a:r>
            <a:r>
              <a:rPr lang="en-IN" sz="1600" dirty="0">
                <a:solidFill>
                  <a:srgbClr val="000000"/>
                </a:solidFill>
                <a:effectLst/>
                <a:latin typeface="Times New Roman" panose="02020603050405020304" pitchFamily="18" charset="0"/>
              </a:rPr>
              <a:t>Servo Motor (SG90/MG995) – Rotates the ultrasonic sensor for wider detection. </a:t>
            </a:r>
            <a:endParaRPr lang="en-IN" sz="1600" dirty="0"/>
          </a:p>
          <a:p>
            <a:pPr algn="just">
              <a:buNone/>
            </a:pPr>
            <a:r>
              <a:rPr lang="en-IN" sz="1400" dirty="0">
                <a:solidFill>
                  <a:srgbClr val="000000"/>
                </a:solidFill>
                <a:effectLst/>
                <a:latin typeface="Times New Roman" panose="02020603050405020304" pitchFamily="18" charset="0"/>
              </a:rPr>
              <a:t>4. </a:t>
            </a:r>
            <a:r>
              <a:rPr lang="en-IN" sz="1600" dirty="0">
                <a:solidFill>
                  <a:srgbClr val="000000"/>
                </a:solidFill>
                <a:effectLst/>
                <a:latin typeface="Times New Roman" panose="02020603050405020304" pitchFamily="18" charset="0"/>
              </a:rPr>
              <a:t>Motor Driver Shield (L298N) – Controls the robot’s motor movement. </a:t>
            </a:r>
            <a:endParaRPr lang="en-IN" sz="1600" dirty="0"/>
          </a:p>
          <a:p>
            <a:pPr algn="just">
              <a:buNone/>
            </a:pPr>
            <a:r>
              <a:rPr lang="en-IN" sz="1400" dirty="0">
                <a:solidFill>
                  <a:srgbClr val="000000"/>
                </a:solidFill>
                <a:effectLst/>
                <a:latin typeface="Times New Roman" panose="02020603050405020304" pitchFamily="18" charset="0"/>
              </a:rPr>
              <a:t>5. </a:t>
            </a:r>
            <a:r>
              <a:rPr lang="en-IN" sz="1600" dirty="0">
                <a:solidFill>
                  <a:srgbClr val="000000"/>
                </a:solidFill>
                <a:effectLst/>
                <a:latin typeface="Times New Roman" panose="02020603050405020304" pitchFamily="18" charset="0"/>
              </a:rPr>
              <a:t>DC Motors with Wheels – Enables the robot’s movement. </a:t>
            </a:r>
            <a:endParaRPr lang="en-IN" sz="1600" dirty="0"/>
          </a:p>
          <a:p>
            <a:pPr algn="just">
              <a:buNone/>
            </a:pPr>
            <a:r>
              <a:rPr lang="en-IN" sz="1400" dirty="0">
                <a:solidFill>
                  <a:srgbClr val="000000"/>
                </a:solidFill>
                <a:effectLst/>
                <a:latin typeface="Times New Roman" panose="02020603050405020304" pitchFamily="18" charset="0"/>
              </a:rPr>
              <a:t>6. </a:t>
            </a:r>
            <a:r>
              <a:rPr lang="en-IN" sz="1600" dirty="0">
                <a:solidFill>
                  <a:srgbClr val="000000"/>
                </a:solidFill>
                <a:effectLst/>
                <a:latin typeface="Times New Roman" panose="02020603050405020304" pitchFamily="18" charset="0"/>
              </a:rPr>
              <a:t>Power Supply (</a:t>
            </a:r>
            <a:r>
              <a:rPr lang="en-IN" sz="1600" dirty="0">
                <a:solidFill>
                  <a:srgbClr val="000000"/>
                </a:solidFill>
                <a:latin typeface="Times New Roman" panose="02020603050405020304" pitchFamily="18" charset="0"/>
              </a:rPr>
              <a:t>9</a:t>
            </a:r>
            <a:r>
              <a:rPr lang="en-IN" sz="1600" dirty="0">
                <a:solidFill>
                  <a:srgbClr val="000000"/>
                </a:solidFill>
                <a:effectLst/>
                <a:latin typeface="Times New Roman" panose="02020603050405020304" pitchFamily="18" charset="0"/>
              </a:rPr>
              <a:t>V Battery or Li-Ion Pack) – Provides necessary voltage for components. </a:t>
            </a:r>
            <a:endParaRPr lang="en-IN" sz="1600" dirty="0"/>
          </a:p>
          <a:p>
            <a:pPr algn="just">
              <a:buNone/>
            </a:pPr>
            <a:r>
              <a:rPr lang="en-IN" sz="1400" dirty="0">
                <a:solidFill>
                  <a:srgbClr val="000000"/>
                </a:solidFill>
                <a:effectLst/>
                <a:latin typeface="Times New Roman" panose="02020603050405020304" pitchFamily="18" charset="0"/>
              </a:rPr>
              <a:t>7. </a:t>
            </a:r>
            <a:r>
              <a:rPr lang="en-IN" sz="1600" dirty="0">
                <a:solidFill>
                  <a:srgbClr val="000000"/>
                </a:solidFill>
                <a:effectLst/>
                <a:latin typeface="Times New Roman" panose="02020603050405020304" pitchFamily="18" charset="0"/>
              </a:rPr>
              <a:t>Chassis and Mounting Accessories – Forms the robot’s structure.</a:t>
            </a:r>
            <a:endParaRPr lang="en-IN" sz="1600" dirty="0"/>
          </a:p>
        </p:txBody>
      </p:sp>
      <p:sp>
        <p:nvSpPr>
          <p:cNvPr id="11" name="TextBox 10">
            <a:extLst>
              <a:ext uri="{FF2B5EF4-FFF2-40B4-BE49-F238E27FC236}">
                <a16:creationId xmlns:a16="http://schemas.microsoft.com/office/drawing/2014/main" id="{8AC37E3A-0C96-0C17-137D-181F96C2EC97}"/>
              </a:ext>
            </a:extLst>
          </p:cNvPr>
          <p:cNvSpPr txBox="1"/>
          <p:nvPr/>
        </p:nvSpPr>
        <p:spPr>
          <a:xfrm>
            <a:off x="134694" y="4245104"/>
            <a:ext cx="6565885" cy="2092881"/>
          </a:xfrm>
          <a:prstGeom prst="rect">
            <a:avLst/>
          </a:prstGeom>
          <a:noFill/>
        </p:spPr>
        <p:txBody>
          <a:bodyPr wrap="square">
            <a:spAutoFit/>
          </a:bodyPr>
          <a:lstStyle/>
          <a:p>
            <a:pPr algn="just"/>
            <a:r>
              <a:rPr lang="en-US" sz="2400" b="1" dirty="0">
                <a:latin typeface="Times New Roman" pitchFamily="18" charset="0"/>
                <a:cs typeface="Times New Roman" pitchFamily="18" charset="0"/>
              </a:rPr>
              <a:t>Software Requirements</a:t>
            </a:r>
          </a:p>
          <a:p>
            <a:pPr algn="just">
              <a:buNone/>
            </a:pPr>
            <a:r>
              <a:rPr lang="en-IN" sz="1400" dirty="0">
                <a:solidFill>
                  <a:srgbClr val="000000"/>
                </a:solidFill>
                <a:latin typeface="Times New Roman" panose="02020603050405020304" pitchFamily="18" charset="0"/>
              </a:rPr>
              <a:t>1.</a:t>
            </a:r>
            <a:r>
              <a:rPr lang="en-IN" sz="1600" dirty="0">
                <a:solidFill>
                  <a:srgbClr val="000000"/>
                </a:solidFill>
                <a:latin typeface="Times New Roman" panose="02020603050405020304" pitchFamily="18" charset="0"/>
              </a:rPr>
              <a:t>Arduino IDE – For coding and uploading programs. </a:t>
            </a:r>
            <a:endParaRPr lang="en-IN" sz="1600" dirty="0"/>
          </a:p>
          <a:p>
            <a:pPr algn="just">
              <a:buNone/>
            </a:pPr>
            <a:r>
              <a:rPr lang="en-IN" sz="1400" dirty="0">
                <a:solidFill>
                  <a:srgbClr val="000000"/>
                </a:solidFill>
                <a:latin typeface="Times New Roman" panose="02020603050405020304" pitchFamily="18" charset="0"/>
              </a:rPr>
              <a:t>2. </a:t>
            </a:r>
            <a:r>
              <a:rPr lang="en-IN" sz="1600" dirty="0">
                <a:solidFill>
                  <a:srgbClr val="000000"/>
                </a:solidFill>
                <a:latin typeface="Times New Roman" panose="02020603050405020304" pitchFamily="18" charset="0"/>
              </a:rPr>
              <a:t>Ping Library – Processes ultrasonic sensor data. </a:t>
            </a:r>
            <a:endParaRPr lang="en-IN" sz="1600" dirty="0"/>
          </a:p>
          <a:p>
            <a:pPr algn="just">
              <a:buNone/>
            </a:pPr>
            <a:r>
              <a:rPr lang="en-IN" sz="1400" dirty="0">
                <a:solidFill>
                  <a:srgbClr val="000000"/>
                </a:solidFill>
                <a:latin typeface="Times New Roman" panose="02020603050405020304" pitchFamily="18" charset="0"/>
              </a:rPr>
              <a:t>3. </a:t>
            </a:r>
            <a:r>
              <a:rPr lang="en-IN" sz="1600" dirty="0">
                <a:solidFill>
                  <a:srgbClr val="000000"/>
                </a:solidFill>
                <a:latin typeface="Times New Roman" panose="02020603050405020304" pitchFamily="18" charset="0"/>
              </a:rPr>
              <a:t>Servo Library – Controls servo motor movement. </a:t>
            </a:r>
            <a:endParaRPr lang="en-IN" sz="1600" dirty="0"/>
          </a:p>
          <a:p>
            <a:pPr algn="just">
              <a:buNone/>
            </a:pPr>
            <a:r>
              <a:rPr lang="en-IN" sz="1400" dirty="0">
                <a:solidFill>
                  <a:srgbClr val="000000"/>
                </a:solidFill>
                <a:latin typeface="Times New Roman" panose="02020603050405020304" pitchFamily="18" charset="0"/>
              </a:rPr>
              <a:t>4. </a:t>
            </a:r>
            <a:r>
              <a:rPr lang="en-IN" sz="1600" dirty="0">
                <a:solidFill>
                  <a:srgbClr val="000000"/>
                </a:solidFill>
                <a:latin typeface="Times New Roman" panose="02020603050405020304" pitchFamily="18" charset="0"/>
              </a:rPr>
              <a:t>Motor Drive Shield Library – Manages motor operations   efficiently. </a:t>
            </a:r>
            <a:endParaRPr lang="en-IN" sz="1600" dirty="0"/>
          </a:p>
          <a:p>
            <a:pPr algn="just">
              <a:buNone/>
            </a:pPr>
            <a:r>
              <a:rPr lang="en-IN" sz="1400" dirty="0">
                <a:solidFill>
                  <a:srgbClr val="000000"/>
                </a:solidFill>
                <a:latin typeface="Times New Roman" panose="02020603050405020304" pitchFamily="18" charset="0"/>
              </a:rPr>
              <a:t>5. </a:t>
            </a:r>
            <a:r>
              <a:rPr lang="en-IN" sz="1600" dirty="0">
                <a:solidFill>
                  <a:srgbClr val="000000"/>
                </a:solidFill>
                <a:latin typeface="Times New Roman" panose="02020603050405020304" pitchFamily="18" charset="0"/>
              </a:rPr>
              <a:t>Microprocessor</a:t>
            </a:r>
            <a:endParaRPr lang="en-IN" sz="1600" dirty="0"/>
          </a:p>
          <a:p>
            <a:pPr algn="just"/>
            <a:endParaRPr lang="en-IN" sz="2400" dirty="0"/>
          </a:p>
        </p:txBody>
      </p:sp>
    </p:spTree>
    <p:extLst>
      <p:ext uri="{BB962C8B-B14F-4D97-AF65-F5344CB8AC3E}">
        <p14:creationId xmlns:p14="http://schemas.microsoft.com/office/powerpoint/2010/main" val="3711222908"/>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1EF4809-48E7-175F-7DD9-8381037EF8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5672" y="1676361"/>
            <a:ext cx="6064022" cy="4044432"/>
          </a:xfrm>
          <a:prstGeom prst="rect">
            <a:avLst/>
          </a:prstGeom>
        </p:spPr>
      </p:pic>
      <p:sp>
        <p:nvSpPr>
          <p:cNvPr id="2" name="Title 1">
            <a:extLst>
              <a:ext uri="{FF2B5EF4-FFF2-40B4-BE49-F238E27FC236}">
                <a16:creationId xmlns:a16="http://schemas.microsoft.com/office/drawing/2014/main" id="{6055BCF1-A221-6B27-4463-8D552A287924}"/>
              </a:ext>
            </a:extLst>
          </p:cNvPr>
          <p:cNvSpPr txBox="1">
            <a:spLocks/>
          </p:cNvSpPr>
          <p:nvPr/>
        </p:nvSpPr>
        <p:spPr>
          <a:xfrm>
            <a:off x="4315724" y="1368837"/>
            <a:ext cx="8302487" cy="4392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Times New Roman" pitchFamily="18" charset="0"/>
                <a:cs typeface="Times New Roman" pitchFamily="18" charset="0"/>
              </a:rPr>
              <a:t>Architecture</a:t>
            </a:r>
          </a:p>
          <a:p>
            <a:endParaRPr lang="en-IN" sz="40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6230F573-AD38-FA11-E22A-CAF7EE89B92E}"/>
              </a:ext>
            </a:extLst>
          </p:cNvPr>
          <p:cNvPicPr>
            <a:picLocks noChangeAspect="1"/>
          </p:cNvPicPr>
          <p:nvPr/>
        </p:nvPicPr>
        <p:blipFill>
          <a:blip r:embed="rId3"/>
          <a:srcRect/>
          <a:stretch>
            <a:fillRect/>
          </a:stretch>
        </p:blipFill>
        <p:spPr bwMode="auto">
          <a:xfrm>
            <a:off x="111124" y="119906"/>
            <a:ext cx="6589454" cy="567774"/>
          </a:xfrm>
          <a:prstGeom prst="rect">
            <a:avLst/>
          </a:prstGeom>
          <a:noFill/>
          <a:ln w="9525">
            <a:noFill/>
            <a:miter lim="800000"/>
            <a:headEnd/>
            <a:tailEnd/>
          </a:ln>
        </p:spPr>
      </p:pic>
      <p:sp>
        <p:nvSpPr>
          <p:cNvPr id="4" name="Rectangle 3">
            <a:extLst>
              <a:ext uri="{FF2B5EF4-FFF2-40B4-BE49-F238E27FC236}">
                <a16:creationId xmlns:a16="http://schemas.microsoft.com/office/drawing/2014/main" id="{05B7FE2C-F092-456E-5433-42ACE3695F8A}"/>
              </a:ext>
            </a:extLst>
          </p:cNvPr>
          <p:cNvSpPr/>
          <p:nvPr/>
        </p:nvSpPr>
        <p:spPr>
          <a:xfrm>
            <a:off x="-10160" y="6431280"/>
            <a:ext cx="12192000" cy="4267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i="1" dirty="0">
                <a:latin typeface="Times New Roman" panose="02020603050405020304" pitchFamily="18" charset="0"/>
                <a:cs typeface="Times New Roman" panose="02020603050405020304" pitchFamily="18" charset="0"/>
              </a:rPr>
              <a:t>Department of CSE – (IoT &amp; CSBT)                                                                                                                                       2025-26</a:t>
            </a:r>
            <a:endParaRPr lang="en-IN" dirty="0"/>
          </a:p>
        </p:txBody>
      </p:sp>
      <p:sp>
        <p:nvSpPr>
          <p:cNvPr id="6" name="TextBox 5">
            <a:extLst>
              <a:ext uri="{FF2B5EF4-FFF2-40B4-BE49-F238E27FC236}">
                <a16:creationId xmlns:a16="http://schemas.microsoft.com/office/drawing/2014/main" id="{24108AB4-8D36-7D26-3D57-A5A15B46ECD9}"/>
              </a:ext>
            </a:extLst>
          </p:cNvPr>
          <p:cNvSpPr txBox="1"/>
          <p:nvPr/>
        </p:nvSpPr>
        <p:spPr>
          <a:xfrm>
            <a:off x="312753" y="2128319"/>
            <a:ext cx="6186196" cy="2862322"/>
          </a:xfrm>
          <a:prstGeom prst="rect">
            <a:avLst/>
          </a:prstGeom>
          <a:noFill/>
        </p:spPr>
        <p:txBody>
          <a:bodyPr wrap="square">
            <a:spAutoFit/>
          </a:bodyPr>
          <a:lstStyle/>
          <a:p>
            <a:pPr algn="just">
              <a:buNone/>
            </a:pPr>
            <a:r>
              <a:rPr lang="en-US" sz="1800" dirty="0">
                <a:solidFill>
                  <a:srgbClr val="000000"/>
                </a:solidFill>
                <a:effectLst/>
                <a:latin typeface="Times New Roman" panose="02020603050405020304" pitchFamily="18" charset="0"/>
              </a:rPr>
              <a:t>1. The ultrasonic sensor scans the area. </a:t>
            </a:r>
            <a:endParaRPr lang="en-US" dirty="0"/>
          </a:p>
          <a:p>
            <a:pPr algn="just">
              <a:buNone/>
            </a:pPr>
            <a:r>
              <a:rPr lang="en-US" sz="1800" dirty="0">
                <a:solidFill>
                  <a:srgbClr val="000000"/>
                </a:solidFill>
                <a:effectLst/>
                <a:latin typeface="Times New Roman" panose="02020603050405020304" pitchFamily="18" charset="0"/>
              </a:rPr>
              <a:t>2. The servo motor rotates the sensor to check multiple directions. </a:t>
            </a:r>
            <a:endParaRPr lang="en-US" dirty="0"/>
          </a:p>
          <a:p>
            <a:pPr algn="just">
              <a:buNone/>
            </a:pPr>
            <a:r>
              <a:rPr lang="en-US" sz="1800" dirty="0">
                <a:solidFill>
                  <a:srgbClr val="000000"/>
                </a:solidFill>
                <a:effectLst/>
                <a:latin typeface="Times New Roman" panose="02020603050405020304" pitchFamily="18" charset="0"/>
              </a:rPr>
              <a:t>3. Based on distance values, the Arduino with motor shield makes decisions : </a:t>
            </a:r>
            <a:endParaRPr lang="en-US" dirty="0"/>
          </a:p>
          <a:p>
            <a:pPr algn="just">
              <a:buNone/>
            </a:pPr>
            <a:r>
              <a:rPr lang="en-US" sz="1800" dirty="0">
                <a:solidFill>
                  <a:srgbClr val="000000"/>
                </a:solidFill>
                <a:effectLst/>
                <a:latin typeface="Times New Roman" panose="02020603050405020304" pitchFamily="18" charset="0"/>
              </a:rPr>
              <a:t>&gt;Move forward if the path is clear </a:t>
            </a:r>
          </a:p>
          <a:p>
            <a:pPr algn="just">
              <a:buNone/>
            </a:pPr>
            <a:r>
              <a:rPr lang="en-US" sz="1800" dirty="0">
                <a:solidFill>
                  <a:srgbClr val="000000"/>
                </a:solidFill>
                <a:effectLst/>
                <a:latin typeface="Times New Roman" panose="02020603050405020304" pitchFamily="18" charset="0"/>
              </a:rPr>
              <a:t>&gt;Stop or turn if an obstacle is detected. </a:t>
            </a:r>
            <a:endParaRPr lang="en-US" dirty="0"/>
          </a:p>
          <a:p>
            <a:pPr algn="just">
              <a:buNone/>
            </a:pPr>
            <a:r>
              <a:rPr lang="en-US" sz="1800" dirty="0">
                <a:solidFill>
                  <a:srgbClr val="000000"/>
                </a:solidFill>
                <a:effectLst/>
                <a:latin typeface="Times New Roman" panose="02020603050405020304" pitchFamily="18" charset="0"/>
              </a:rPr>
              <a:t>4. DC motors receive commands from the motor shield to execute the movement. </a:t>
            </a:r>
            <a:endParaRPr lang="en-US" dirty="0"/>
          </a:p>
          <a:p>
            <a:pPr algn="just">
              <a:buNone/>
            </a:pPr>
            <a:r>
              <a:rPr lang="en-US" sz="1800" dirty="0">
                <a:solidFill>
                  <a:srgbClr val="000000"/>
                </a:solidFill>
                <a:effectLst/>
                <a:latin typeface="Times New Roman" panose="02020603050405020304" pitchFamily="18" charset="0"/>
              </a:rPr>
              <a:t>5. Power is continuously supplied by the Li-ion battery pack</a:t>
            </a:r>
            <a:endParaRPr lang="en-IN" dirty="0"/>
          </a:p>
        </p:txBody>
      </p:sp>
    </p:spTree>
    <p:extLst>
      <p:ext uri="{BB962C8B-B14F-4D97-AF65-F5344CB8AC3E}">
        <p14:creationId xmlns:p14="http://schemas.microsoft.com/office/powerpoint/2010/main" val="2231906075"/>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81CA2-555B-AA34-AA17-C1C9A674B431}"/>
              </a:ext>
            </a:extLst>
          </p:cNvPr>
          <p:cNvSpPr>
            <a:spLocks noGrp="1"/>
          </p:cNvSpPr>
          <p:nvPr>
            <p:ph type="title"/>
          </p:nvPr>
        </p:nvSpPr>
        <p:spPr>
          <a:xfrm>
            <a:off x="4166948" y="592672"/>
            <a:ext cx="5984759" cy="1325563"/>
          </a:xfrm>
        </p:spPr>
        <p:txBody>
          <a:bodyPr/>
          <a:lstStyle/>
          <a:p>
            <a:r>
              <a:rPr lang="en-US" sz="4000" b="1" dirty="0">
                <a:latin typeface="Times New Roman" pitchFamily="18" charset="0"/>
                <a:cs typeface="Times New Roman" pitchFamily="18" charset="0"/>
              </a:rPr>
              <a:t>Algorithm Used </a:t>
            </a:r>
            <a:br>
              <a:rPr lang="en-US" sz="4000" b="1" dirty="0">
                <a:latin typeface="Times New Roman" pitchFamily="18" charset="0"/>
                <a:cs typeface="Times New Roman" pitchFamily="18" charset="0"/>
              </a:rPr>
            </a:br>
            <a:endParaRPr lang="en-IN" sz="40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A3D0188-FDEC-C010-12F6-C69642706561}"/>
              </a:ext>
            </a:extLst>
          </p:cNvPr>
          <p:cNvPicPr>
            <a:picLocks noChangeAspect="1"/>
          </p:cNvPicPr>
          <p:nvPr/>
        </p:nvPicPr>
        <p:blipFill>
          <a:blip r:embed="rId2"/>
          <a:srcRect/>
          <a:stretch>
            <a:fillRect/>
          </a:stretch>
        </p:blipFill>
        <p:spPr bwMode="auto">
          <a:xfrm>
            <a:off x="111124" y="119906"/>
            <a:ext cx="6589454" cy="567774"/>
          </a:xfrm>
          <a:prstGeom prst="rect">
            <a:avLst/>
          </a:prstGeom>
          <a:noFill/>
          <a:ln w="9525">
            <a:noFill/>
            <a:miter lim="800000"/>
            <a:headEnd/>
            <a:tailEnd/>
          </a:ln>
        </p:spPr>
      </p:pic>
      <p:sp>
        <p:nvSpPr>
          <p:cNvPr id="4" name="Rectangle 3">
            <a:extLst>
              <a:ext uri="{FF2B5EF4-FFF2-40B4-BE49-F238E27FC236}">
                <a16:creationId xmlns:a16="http://schemas.microsoft.com/office/drawing/2014/main" id="{153716B6-D589-7A60-FD27-C831A5AE2059}"/>
              </a:ext>
            </a:extLst>
          </p:cNvPr>
          <p:cNvSpPr/>
          <p:nvPr/>
        </p:nvSpPr>
        <p:spPr>
          <a:xfrm>
            <a:off x="-10160" y="6431280"/>
            <a:ext cx="12192000" cy="4267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i="1" dirty="0">
                <a:latin typeface="Times New Roman" panose="02020603050405020304" pitchFamily="18" charset="0"/>
                <a:cs typeface="Times New Roman" panose="02020603050405020304" pitchFamily="18" charset="0"/>
              </a:rPr>
              <a:t>Department of CSE – (IoT &amp; CSBT)                                                                                                                                       2025-26</a:t>
            </a:r>
            <a:endParaRPr lang="en-IN" dirty="0"/>
          </a:p>
        </p:txBody>
      </p:sp>
      <p:sp>
        <p:nvSpPr>
          <p:cNvPr id="6" name="TextBox 5">
            <a:extLst>
              <a:ext uri="{FF2B5EF4-FFF2-40B4-BE49-F238E27FC236}">
                <a16:creationId xmlns:a16="http://schemas.microsoft.com/office/drawing/2014/main" id="{1F2BD779-43B1-2EEF-52AD-DAA9DF466DD2}"/>
              </a:ext>
            </a:extLst>
          </p:cNvPr>
          <p:cNvSpPr txBox="1"/>
          <p:nvPr/>
        </p:nvSpPr>
        <p:spPr>
          <a:xfrm>
            <a:off x="596900" y="1255454"/>
            <a:ext cx="9779000" cy="5078313"/>
          </a:xfrm>
          <a:prstGeom prst="rect">
            <a:avLst/>
          </a:prstGeom>
          <a:noFill/>
        </p:spPr>
        <p:txBody>
          <a:bodyPr wrap="square">
            <a:spAutoFit/>
          </a:bodyPr>
          <a:lstStyle/>
          <a:p>
            <a:pPr algn="just"/>
            <a:r>
              <a:rPr lang="en-US" dirty="0"/>
              <a:t>1. Start </a:t>
            </a:r>
          </a:p>
          <a:p>
            <a:pPr algn="just"/>
            <a:r>
              <a:rPr lang="en-US" dirty="0"/>
              <a:t>2. Initialize System </a:t>
            </a:r>
          </a:p>
          <a:p>
            <a:pPr algn="just"/>
            <a:r>
              <a:rPr lang="en-US" dirty="0"/>
              <a:t>      Power ON</a:t>
            </a:r>
          </a:p>
          <a:p>
            <a:pPr algn="just"/>
            <a:r>
              <a:rPr lang="en-US" dirty="0"/>
              <a:t>      Initialize Arduino, ultrasonic sensors, and motors</a:t>
            </a:r>
          </a:p>
          <a:p>
            <a:pPr algn="just"/>
            <a:r>
              <a:rPr lang="en-US" dirty="0"/>
              <a:t>3. Read Sensor Data</a:t>
            </a:r>
          </a:p>
          <a:p>
            <a:pPr algn="just"/>
            <a:r>
              <a:rPr lang="en-US" dirty="0"/>
              <a:t>     Continuously measure distance using ultrasonic sensors</a:t>
            </a:r>
          </a:p>
          <a:p>
            <a:pPr algn="just"/>
            <a:r>
              <a:rPr lang="en-US" dirty="0"/>
              <a:t>4. Check Obstacle Presence</a:t>
            </a:r>
          </a:p>
          <a:p>
            <a:pPr algn="just"/>
            <a:r>
              <a:rPr lang="en-US" dirty="0"/>
              <a:t>    If distance &lt; threshold → Obstacle detected</a:t>
            </a:r>
          </a:p>
          <a:p>
            <a:pPr algn="just"/>
            <a:r>
              <a:rPr lang="en-US" dirty="0"/>
              <a:t>    Else → Path is clear</a:t>
            </a:r>
          </a:p>
          <a:p>
            <a:pPr algn="just"/>
            <a:r>
              <a:rPr lang="en-US" dirty="0"/>
              <a:t>5. Decision Making </a:t>
            </a:r>
          </a:p>
          <a:p>
            <a:pPr algn="just"/>
            <a:r>
              <a:rPr lang="en-US" dirty="0"/>
              <a:t>    Obstacle detected: Determine direction to turn (left/right/back)</a:t>
            </a:r>
          </a:p>
          <a:p>
            <a:pPr algn="just"/>
            <a:r>
              <a:rPr lang="en-US" dirty="0"/>
              <a:t>    No obstacle: Move forward</a:t>
            </a:r>
          </a:p>
          <a:p>
            <a:pPr algn="just"/>
            <a:r>
              <a:rPr lang="en-US" dirty="0"/>
              <a:t>6. Move Robot</a:t>
            </a:r>
          </a:p>
          <a:p>
            <a:pPr algn="just"/>
            <a:r>
              <a:rPr lang="en-US" dirty="0"/>
              <a:t>    Execute motor commands based on decision</a:t>
            </a:r>
          </a:p>
          <a:p>
            <a:pPr algn="just"/>
            <a:r>
              <a:rPr lang="en-US" dirty="0"/>
              <a:t>7. Loop</a:t>
            </a:r>
          </a:p>
          <a:p>
            <a:pPr algn="just"/>
            <a:r>
              <a:rPr lang="en-US" dirty="0"/>
              <a:t>    Repeat reading sensors and decision-making until Stop command</a:t>
            </a:r>
          </a:p>
          <a:p>
            <a:pPr algn="just"/>
            <a:r>
              <a:rPr lang="en-US" dirty="0"/>
              <a:t>8. Stop</a:t>
            </a:r>
          </a:p>
          <a:p>
            <a:pPr algn="just"/>
            <a:r>
              <a:rPr lang="en-US" dirty="0"/>
              <a:t>    Stop motors and end operation</a:t>
            </a:r>
            <a:endParaRPr lang="en-IN" dirty="0"/>
          </a:p>
        </p:txBody>
      </p:sp>
    </p:spTree>
    <p:extLst>
      <p:ext uri="{BB962C8B-B14F-4D97-AF65-F5344CB8AC3E}">
        <p14:creationId xmlns:p14="http://schemas.microsoft.com/office/powerpoint/2010/main" val="3630015279"/>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6B843020-1835-0302-8D3B-322061820D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9176" y="781631"/>
            <a:ext cx="9113327" cy="5574360"/>
          </a:xfrm>
          <a:prstGeom prst="rect">
            <a:avLst/>
          </a:prstGeom>
        </p:spPr>
      </p:pic>
      <p:sp>
        <p:nvSpPr>
          <p:cNvPr id="4" name="Title 3">
            <a:extLst>
              <a:ext uri="{FF2B5EF4-FFF2-40B4-BE49-F238E27FC236}">
                <a16:creationId xmlns:a16="http://schemas.microsoft.com/office/drawing/2014/main" id="{BE9A263B-8A7B-0042-97C3-710B08B5189E}"/>
              </a:ext>
            </a:extLst>
          </p:cNvPr>
          <p:cNvSpPr>
            <a:spLocks noGrp="1"/>
          </p:cNvSpPr>
          <p:nvPr>
            <p:ph type="title"/>
          </p:nvPr>
        </p:nvSpPr>
        <p:spPr>
          <a:xfrm>
            <a:off x="4137004" y="950181"/>
            <a:ext cx="7067271" cy="1044524"/>
          </a:xfrm>
        </p:spPr>
        <p:txBody>
          <a:bodyPr>
            <a:normAutofit fontScale="90000"/>
          </a:bodyPr>
          <a:lstStyle/>
          <a:p>
            <a:r>
              <a:rPr lang="en-US" b="1" dirty="0">
                <a:latin typeface="Times New Roman" pitchFamily="18" charset="0"/>
                <a:cs typeface="Times New Roman" pitchFamily="18" charset="0"/>
              </a:rPr>
              <a:t>Use case diagram</a:t>
            </a:r>
            <a:br>
              <a:rPr lang="en-US" sz="4000" b="1" dirty="0">
                <a:latin typeface="Times New Roman" pitchFamily="18" charset="0"/>
                <a:cs typeface="Times New Roman" pitchFamily="18" charset="0"/>
              </a:rPr>
            </a:br>
            <a:endParaRPr lang="en-US" sz="4000" b="1" dirty="0">
              <a:latin typeface="Times New Roman" pitchFamily="18" charset="0"/>
              <a:cs typeface="Times New Roman" pitchFamily="18" charset="0"/>
            </a:endParaRPr>
          </a:p>
        </p:txBody>
      </p:sp>
      <p:pic>
        <p:nvPicPr>
          <p:cNvPr id="2" name="Picture 1">
            <a:extLst>
              <a:ext uri="{FF2B5EF4-FFF2-40B4-BE49-F238E27FC236}">
                <a16:creationId xmlns:a16="http://schemas.microsoft.com/office/drawing/2014/main" id="{FE5D6A3B-91A0-6E26-BF12-36457A3FBBC3}"/>
              </a:ext>
            </a:extLst>
          </p:cNvPr>
          <p:cNvPicPr>
            <a:picLocks noChangeAspect="1"/>
          </p:cNvPicPr>
          <p:nvPr/>
        </p:nvPicPr>
        <p:blipFill>
          <a:blip r:embed="rId3"/>
          <a:srcRect/>
          <a:stretch>
            <a:fillRect/>
          </a:stretch>
        </p:blipFill>
        <p:spPr bwMode="auto">
          <a:xfrm>
            <a:off x="111124" y="119906"/>
            <a:ext cx="6589454" cy="567774"/>
          </a:xfrm>
          <a:prstGeom prst="rect">
            <a:avLst/>
          </a:prstGeom>
          <a:noFill/>
          <a:ln w="9525">
            <a:noFill/>
            <a:miter lim="800000"/>
            <a:headEnd/>
            <a:tailEnd/>
          </a:ln>
        </p:spPr>
      </p:pic>
      <p:sp>
        <p:nvSpPr>
          <p:cNvPr id="3" name="Rectangle 2">
            <a:extLst>
              <a:ext uri="{FF2B5EF4-FFF2-40B4-BE49-F238E27FC236}">
                <a16:creationId xmlns:a16="http://schemas.microsoft.com/office/drawing/2014/main" id="{DBB02560-4A04-4B61-C3F0-4A581CA46BCD}"/>
              </a:ext>
            </a:extLst>
          </p:cNvPr>
          <p:cNvSpPr/>
          <p:nvPr/>
        </p:nvSpPr>
        <p:spPr>
          <a:xfrm>
            <a:off x="-10160" y="6431280"/>
            <a:ext cx="12192000" cy="4267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i="1" dirty="0">
                <a:latin typeface="Times New Roman" panose="02020603050405020304" pitchFamily="18" charset="0"/>
                <a:cs typeface="Times New Roman" panose="02020603050405020304" pitchFamily="18" charset="0"/>
              </a:rPr>
              <a:t>Department of CSE – (IoT &amp; CSBT)                                                                                                                                       2025-26</a:t>
            </a:r>
            <a:endParaRPr lang="en-IN" dirty="0"/>
          </a:p>
        </p:txBody>
      </p:sp>
    </p:spTree>
    <p:extLst>
      <p:ext uri="{BB962C8B-B14F-4D97-AF65-F5344CB8AC3E}">
        <p14:creationId xmlns:p14="http://schemas.microsoft.com/office/powerpoint/2010/main" val="2855448369"/>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F78A7-3476-86D0-A190-A7EFB4E57898}"/>
              </a:ext>
            </a:extLst>
          </p:cNvPr>
          <p:cNvSpPr>
            <a:spLocks noGrp="1"/>
          </p:cNvSpPr>
          <p:nvPr>
            <p:ph type="title"/>
          </p:nvPr>
        </p:nvSpPr>
        <p:spPr>
          <a:xfrm>
            <a:off x="3993502" y="687680"/>
            <a:ext cx="6913984" cy="1325563"/>
          </a:xfrm>
        </p:spPr>
        <p:txBody>
          <a:bodyPr>
            <a:normAutofit/>
          </a:bodyPr>
          <a:lstStyle/>
          <a:p>
            <a:r>
              <a:rPr lang="en-US" sz="4000" b="1" dirty="0">
                <a:latin typeface="Times New Roman" pitchFamily="18" charset="0"/>
                <a:cs typeface="Times New Roman" pitchFamily="18" charset="0"/>
              </a:rPr>
              <a:t>Sequence diagram</a:t>
            </a:r>
            <a:br>
              <a:rPr lang="en-US" sz="4000" b="1" dirty="0">
                <a:latin typeface="Times New Roman" pitchFamily="18" charset="0"/>
                <a:cs typeface="Times New Roman" pitchFamily="18" charset="0"/>
              </a:rPr>
            </a:br>
            <a:endParaRPr lang="en-IN" sz="4000" b="1" dirty="0"/>
          </a:p>
        </p:txBody>
      </p:sp>
      <p:pic>
        <p:nvPicPr>
          <p:cNvPr id="5" name="Picture 4">
            <a:extLst>
              <a:ext uri="{FF2B5EF4-FFF2-40B4-BE49-F238E27FC236}">
                <a16:creationId xmlns:a16="http://schemas.microsoft.com/office/drawing/2014/main" id="{EFDA6FC4-04CD-8152-4D46-F47BE6A0C8A3}"/>
              </a:ext>
            </a:extLst>
          </p:cNvPr>
          <p:cNvPicPr>
            <a:picLocks noChangeAspect="1"/>
          </p:cNvPicPr>
          <p:nvPr/>
        </p:nvPicPr>
        <p:blipFill>
          <a:blip r:embed="rId2"/>
          <a:srcRect/>
          <a:stretch>
            <a:fillRect/>
          </a:stretch>
        </p:blipFill>
        <p:spPr bwMode="auto">
          <a:xfrm>
            <a:off x="111124" y="119906"/>
            <a:ext cx="6589454" cy="567774"/>
          </a:xfrm>
          <a:prstGeom prst="rect">
            <a:avLst/>
          </a:prstGeom>
          <a:noFill/>
          <a:ln w="9525">
            <a:noFill/>
            <a:miter lim="800000"/>
            <a:headEnd/>
            <a:tailEnd/>
          </a:ln>
        </p:spPr>
      </p:pic>
      <p:pic>
        <p:nvPicPr>
          <p:cNvPr id="8" name="Picture 7">
            <a:extLst>
              <a:ext uri="{FF2B5EF4-FFF2-40B4-BE49-F238E27FC236}">
                <a16:creationId xmlns:a16="http://schemas.microsoft.com/office/drawing/2014/main" id="{675144B7-6C52-A629-5194-9CFCB16467A4}"/>
              </a:ext>
            </a:extLst>
          </p:cNvPr>
          <p:cNvPicPr>
            <a:picLocks noChangeAspect="1"/>
          </p:cNvPicPr>
          <p:nvPr/>
        </p:nvPicPr>
        <p:blipFill>
          <a:blip r:embed="rId3"/>
          <a:stretch>
            <a:fillRect/>
          </a:stretch>
        </p:blipFill>
        <p:spPr>
          <a:xfrm>
            <a:off x="0" y="6370321"/>
            <a:ext cx="12192000" cy="487680"/>
          </a:xfrm>
          <a:prstGeom prst="rect">
            <a:avLst/>
          </a:prstGeom>
        </p:spPr>
      </p:pic>
      <p:pic>
        <p:nvPicPr>
          <p:cNvPr id="10" name="Picture 9">
            <a:extLst>
              <a:ext uri="{FF2B5EF4-FFF2-40B4-BE49-F238E27FC236}">
                <a16:creationId xmlns:a16="http://schemas.microsoft.com/office/drawing/2014/main" id="{C283F825-038B-8BA5-BA7D-CC311D7011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10308" y="1586204"/>
            <a:ext cx="6481243" cy="4488025"/>
          </a:xfrm>
          <a:prstGeom prst="rect">
            <a:avLst/>
          </a:prstGeom>
        </p:spPr>
      </p:pic>
    </p:spTree>
    <p:extLst>
      <p:ext uri="{BB962C8B-B14F-4D97-AF65-F5344CB8AC3E}">
        <p14:creationId xmlns:p14="http://schemas.microsoft.com/office/powerpoint/2010/main" val="3659388893"/>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94F62C7-48ED-01E8-4FB4-CFF6E34AD94B}"/>
              </a:ext>
            </a:extLst>
          </p:cNvPr>
          <p:cNvPicPr>
            <a:picLocks noChangeAspect="1"/>
          </p:cNvPicPr>
          <p:nvPr/>
        </p:nvPicPr>
        <p:blipFill>
          <a:blip r:embed="rId2"/>
          <a:stretch>
            <a:fillRect/>
          </a:stretch>
        </p:blipFill>
        <p:spPr>
          <a:xfrm>
            <a:off x="7557796" y="1806939"/>
            <a:ext cx="4523080" cy="3797112"/>
          </a:xfrm>
          <a:prstGeom prst="rect">
            <a:avLst/>
          </a:prstGeom>
          <a:ln>
            <a:noFill/>
          </a:ln>
          <a:effectLst>
            <a:softEdge rad="112500"/>
          </a:effectLst>
        </p:spPr>
      </p:pic>
      <p:sp>
        <p:nvSpPr>
          <p:cNvPr id="2" name="Title 1">
            <a:extLst>
              <a:ext uri="{FF2B5EF4-FFF2-40B4-BE49-F238E27FC236}">
                <a16:creationId xmlns:a16="http://schemas.microsoft.com/office/drawing/2014/main" id="{2F4C86FC-8975-945E-7DE3-9726F68B089F}"/>
              </a:ext>
            </a:extLst>
          </p:cNvPr>
          <p:cNvSpPr>
            <a:spLocks noGrp="1"/>
          </p:cNvSpPr>
          <p:nvPr>
            <p:ph type="ctrTitle"/>
          </p:nvPr>
        </p:nvSpPr>
        <p:spPr>
          <a:xfrm>
            <a:off x="1737360" y="-157797"/>
            <a:ext cx="9144000" cy="2331830"/>
          </a:xfrm>
        </p:spPr>
        <p:txBody>
          <a:bodyPr/>
          <a:lstStyle/>
          <a:p>
            <a:r>
              <a:rPr lang="en-US" sz="4000" b="1" dirty="0">
                <a:latin typeface="Times New Roman" pitchFamily="18" charset="0"/>
                <a:cs typeface="Times New Roman" pitchFamily="18" charset="0"/>
              </a:rPr>
              <a:t>Implementation</a:t>
            </a:r>
            <a:br>
              <a:rPr lang="en-US" dirty="0">
                <a:latin typeface="Times New Roman" pitchFamily="18" charset="0"/>
                <a:cs typeface="Times New Roman" pitchFamily="18" charset="0"/>
              </a:rPr>
            </a:br>
            <a:endParaRPr lang="en-IN" dirty="0"/>
          </a:p>
        </p:txBody>
      </p:sp>
      <p:sp>
        <p:nvSpPr>
          <p:cNvPr id="3" name="Subtitle 2">
            <a:extLst>
              <a:ext uri="{FF2B5EF4-FFF2-40B4-BE49-F238E27FC236}">
                <a16:creationId xmlns:a16="http://schemas.microsoft.com/office/drawing/2014/main" id="{303CBFFD-C362-312F-8161-18B688888740}"/>
              </a:ext>
            </a:extLst>
          </p:cNvPr>
          <p:cNvSpPr>
            <a:spLocks noGrp="1"/>
          </p:cNvSpPr>
          <p:nvPr>
            <p:ph type="subTitle" idx="1"/>
          </p:nvPr>
        </p:nvSpPr>
        <p:spPr>
          <a:xfrm>
            <a:off x="111123" y="1253950"/>
            <a:ext cx="7685857" cy="3619856"/>
          </a:xfrm>
        </p:spPr>
        <p:txBody>
          <a:bodyPr>
            <a:noAutofit/>
          </a:bodyPr>
          <a:lstStyle/>
          <a:p>
            <a:pPr algn="just" eaLnBrk="0" fontAlgn="base" hangingPunct="0">
              <a:lnSpc>
                <a:spcPct val="100000"/>
              </a:lnSpc>
              <a:spcBef>
                <a:spcPct val="0"/>
              </a:spcBef>
              <a:spcAft>
                <a:spcPct val="0"/>
              </a:spcAft>
              <a:buFontTx/>
              <a:buChar char="•"/>
            </a:pPr>
            <a:r>
              <a:rPr lang="en-IN" sz="1800" b="1" u="sng" dirty="0"/>
              <a:t>Current trend tools usage</a:t>
            </a:r>
          </a:p>
          <a:p>
            <a:pPr lvl="0" algn="just" eaLnBrk="0" fontAlgn="base" hangingPunct="0">
              <a:lnSpc>
                <a:spcPct val="100000"/>
              </a:lnSpc>
              <a:spcBef>
                <a:spcPct val="0"/>
              </a:spcBef>
              <a:spcAft>
                <a:spcPct val="0"/>
              </a:spcAft>
              <a:buFontTx/>
              <a:buChar char="•"/>
            </a:pPr>
            <a:r>
              <a:rPr lang="en-US" altLang="en-US" sz="1800" b="1" dirty="0">
                <a:latin typeface="Times New Roman" panose="02020603050405020304" pitchFamily="18" charset="0"/>
                <a:cs typeface="Times New Roman" panose="02020603050405020304" pitchFamily="18" charset="0"/>
              </a:rPr>
              <a:t>Arduino </a:t>
            </a:r>
            <a:endParaRPr lang="en-US" altLang="en-US" sz="1800" dirty="0">
              <a:latin typeface="Times New Roman" panose="02020603050405020304" pitchFamily="18" charset="0"/>
              <a:cs typeface="Times New Roman" panose="02020603050405020304" pitchFamily="18" charset="0"/>
            </a:endParaRPr>
          </a:p>
          <a:p>
            <a:pPr lvl="0" algn="just"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Acts as the main microcontroller that controls the motors and reads</a:t>
            </a:r>
          </a:p>
          <a:p>
            <a:pPr lvl="0" algn="just"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 sensor input.</a:t>
            </a:r>
          </a:p>
          <a:p>
            <a:pPr lvl="0" algn="just" eaLnBrk="0" fontAlgn="base" hangingPunct="0">
              <a:lnSpc>
                <a:spcPct val="100000"/>
              </a:lnSpc>
              <a:spcBef>
                <a:spcPct val="0"/>
              </a:spcBef>
              <a:spcAft>
                <a:spcPct val="0"/>
              </a:spcAft>
              <a:buFontTx/>
              <a:buChar char="•"/>
            </a:pPr>
            <a:r>
              <a:rPr lang="en-US" altLang="en-US" sz="1800" b="1" dirty="0">
                <a:latin typeface="Times New Roman" panose="02020603050405020304" pitchFamily="18" charset="0"/>
                <a:cs typeface="Times New Roman" panose="02020603050405020304" pitchFamily="18" charset="0"/>
              </a:rPr>
              <a:t>L298N Motor Driver Module</a:t>
            </a:r>
            <a:endParaRPr lang="en-US" altLang="en-US" sz="1800" dirty="0">
              <a:latin typeface="Times New Roman" panose="02020603050405020304" pitchFamily="18" charset="0"/>
              <a:cs typeface="Times New Roman" panose="02020603050405020304" pitchFamily="18" charset="0"/>
            </a:endParaRPr>
          </a:p>
          <a:p>
            <a:pPr lvl="0" algn="just"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Used to control the speed and direction of two DC motors.</a:t>
            </a:r>
          </a:p>
          <a:p>
            <a:pPr lvl="0" algn="just"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Connected to Arduino for control signals and powered by the 9V battery.</a:t>
            </a:r>
          </a:p>
          <a:p>
            <a:pPr lvl="0" algn="just" eaLnBrk="0" fontAlgn="base" hangingPunct="0">
              <a:lnSpc>
                <a:spcPct val="100000"/>
              </a:lnSpc>
              <a:spcBef>
                <a:spcPct val="0"/>
              </a:spcBef>
              <a:spcAft>
                <a:spcPct val="0"/>
              </a:spcAft>
              <a:buFontTx/>
              <a:buChar char="•"/>
            </a:pPr>
            <a:r>
              <a:rPr lang="en-US" altLang="en-US" sz="1800" b="1" dirty="0">
                <a:latin typeface="Times New Roman" panose="02020603050405020304" pitchFamily="18" charset="0"/>
                <a:cs typeface="Times New Roman" panose="02020603050405020304" pitchFamily="18" charset="0"/>
              </a:rPr>
              <a:t>2 × DC Motors</a:t>
            </a:r>
            <a:r>
              <a:rPr lang="en-US" altLang="en-US" sz="1800" dirty="0">
                <a:latin typeface="Times New Roman" panose="02020603050405020304" pitchFamily="18" charset="0"/>
                <a:cs typeface="Times New Roman" panose="02020603050405020304" pitchFamily="18" charset="0"/>
              </a:rPr>
              <a:t> </a:t>
            </a:r>
          </a:p>
          <a:p>
            <a:pPr lvl="0" algn="just"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These are the drive motors connected to the L298N output terminals.</a:t>
            </a:r>
          </a:p>
          <a:p>
            <a:pPr lvl="0" algn="just"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They move the robot forward, backward, or turn.</a:t>
            </a:r>
          </a:p>
          <a:p>
            <a:pPr lvl="0" algn="just" eaLnBrk="0" fontAlgn="base" hangingPunct="0">
              <a:lnSpc>
                <a:spcPct val="100000"/>
              </a:lnSpc>
              <a:spcBef>
                <a:spcPct val="0"/>
              </a:spcBef>
              <a:spcAft>
                <a:spcPct val="0"/>
              </a:spcAft>
              <a:buFontTx/>
              <a:buChar char="•"/>
            </a:pPr>
            <a:r>
              <a:rPr lang="en-US" altLang="en-US" sz="1800" b="1" dirty="0">
                <a:latin typeface="Times New Roman" panose="02020603050405020304" pitchFamily="18" charset="0"/>
                <a:cs typeface="Times New Roman" panose="02020603050405020304" pitchFamily="18" charset="0"/>
              </a:rPr>
              <a:t>HC-SR04 Ultrasonic Sensor</a:t>
            </a:r>
            <a:r>
              <a:rPr lang="en-US" altLang="en-US" sz="1800" dirty="0">
                <a:latin typeface="Times New Roman" panose="02020603050405020304" pitchFamily="18" charset="0"/>
                <a:cs typeface="Times New Roman" panose="02020603050405020304" pitchFamily="18" charset="0"/>
              </a:rPr>
              <a:t> </a:t>
            </a:r>
          </a:p>
          <a:p>
            <a:pPr lvl="0" algn="just"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Measures distance to obstacles in front of the robot using sound waves.</a:t>
            </a:r>
          </a:p>
          <a:p>
            <a:pPr lvl="0" algn="just"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Connected to Arduino for Trig and Echo pins.</a:t>
            </a:r>
          </a:p>
          <a:p>
            <a:pPr lvl="0" algn="just" eaLnBrk="0" fontAlgn="base" hangingPunct="0">
              <a:lnSpc>
                <a:spcPct val="100000"/>
              </a:lnSpc>
              <a:spcBef>
                <a:spcPct val="0"/>
              </a:spcBef>
              <a:spcAft>
                <a:spcPct val="0"/>
              </a:spcAft>
              <a:buFontTx/>
              <a:buChar char="•"/>
            </a:pPr>
            <a:r>
              <a:rPr lang="en-US" altLang="en-US" sz="1800" b="1" dirty="0">
                <a:latin typeface="Times New Roman" panose="02020603050405020304" pitchFamily="18" charset="0"/>
                <a:cs typeface="Times New Roman" panose="02020603050405020304" pitchFamily="18" charset="0"/>
              </a:rPr>
              <a:t>9V Battery</a:t>
            </a:r>
            <a:r>
              <a:rPr lang="en-US" altLang="en-US" sz="1800" dirty="0">
                <a:latin typeface="Times New Roman" panose="02020603050405020304" pitchFamily="18" charset="0"/>
                <a:cs typeface="Times New Roman" panose="02020603050405020304" pitchFamily="18" charset="0"/>
              </a:rPr>
              <a:t> </a:t>
            </a:r>
          </a:p>
          <a:p>
            <a:pPr lvl="0" algn="just"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Powers the entire circuit (motor driver, motors, and Arduino via the VIN pin).</a:t>
            </a:r>
          </a:p>
          <a:p>
            <a:pPr lvl="0" algn="just" eaLnBrk="0" fontAlgn="base" hangingPunct="0">
              <a:lnSpc>
                <a:spcPct val="100000"/>
              </a:lnSpc>
              <a:spcBef>
                <a:spcPct val="0"/>
              </a:spcBef>
              <a:spcAft>
                <a:spcPct val="0"/>
              </a:spcAft>
              <a:buFontTx/>
              <a:buChar char="•"/>
            </a:pPr>
            <a:r>
              <a:rPr lang="en-US" altLang="en-US" sz="1800" b="1" dirty="0">
                <a:latin typeface="Times New Roman" panose="02020603050405020304" pitchFamily="18" charset="0"/>
                <a:cs typeface="Times New Roman" panose="02020603050405020304" pitchFamily="18" charset="0"/>
              </a:rPr>
              <a:t>Wiring Connections</a:t>
            </a:r>
            <a:r>
              <a:rPr lang="en-US" altLang="en-US" sz="1800" dirty="0">
                <a:latin typeface="Times New Roman" panose="02020603050405020304" pitchFamily="18" charset="0"/>
                <a:cs typeface="Times New Roman" panose="02020603050405020304" pitchFamily="18" charset="0"/>
              </a:rPr>
              <a:t> </a:t>
            </a:r>
          </a:p>
          <a:p>
            <a:pPr lvl="0" algn="just"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Power (red for +V, black for GND)</a:t>
            </a:r>
          </a:p>
          <a:p>
            <a:pPr lvl="0" algn="just" eaLnBrk="0" fontAlgn="base" hangingPunct="0">
              <a:lnSpc>
                <a:spcPct val="100000"/>
              </a:lnSpc>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Signal lines (various colors for control and sensor signals)</a:t>
            </a:r>
          </a:p>
          <a:p>
            <a:pPr lvl="0" algn="just" eaLnBrk="0" fontAlgn="base" hangingPunct="0">
              <a:lnSpc>
                <a:spcPct val="100000"/>
              </a:lnSpc>
              <a:spcBef>
                <a:spcPct val="0"/>
              </a:spcBef>
              <a:spcAft>
                <a:spcPct val="0"/>
              </a:spcAft>
            </a:pPr>
            <a:endParaRPr lang="en-US" altLang="en-US"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369F8C7-2E00-CCF8-C5CF-59AEFA0B69F0}"/>
              </a:ext>
            </a:extLst>
          </p:cNvPr>
          <p:cNvPicPr>
            <a:picLocks noChangeAspect="1"/>
          </p:cNvPicPr>
          <p:nvPr/>
        </p:nvPicPr>
        <p:blipFill>
          <a:blip r:embed="rId3"/>
          <a:stretch>
            <a:fillRect/>
          </a:stretch>
        </p:blipFill>
        <p:spPr>
          <a:xfrm>
            <a:off x="0" y="6360159"/>
            <a:ext cx="12191999" cy="497841"/>
          </a:xfrm>
          <a:prstGeom prst="rect">
            <a:avLst/>
          </a:prstGeom>
        </p:spPr>
      </p:pic>
      <p:pic>
        <p:nvPicPr>
          <p:cNvPr id="6" name="Picture 5">
            <a:extLst>
              <a:ext uri="{FF2B5EF4-FFF2-40B4-BE49-F238E27FC236}">
                <a16:creationId xmlns:a16="http://schemas.microsoft.com/office/drawing/2014/main" id="{56876904-97F2-3B2F-56D5-C952C342B9CB}"/>
              </a:ext>
            </a:extLst>
          </p:cNvPr>
          <p:cNvPicPr>
            <a:picLocks noChangeAspect="1"/>
          </p:cNvPicPr>
          <p:nvPr/>
        </p:nvPicPr>
        <p:blipFill>
          <a:blip r:embed="rId4"/>
          <a:srcRect/>
          <a:stretch>
            <a:fillRect/>
          </a:stretch>
        </p:blipFill>
        <p:spPr bwMode="auto">
          <a:xfrm>
            <a:off x="111124" y="119906"/>
            <a:ext cx="6589454" cy="567774"/>
          </a:xfrm>
          <a:prstGeom prst="rect">
            <a:avLst/>
          </a:prstGeom>
          <a:noFill/>
          <a:ln w="9525">
            <a:noFill/>
            <a:miter lim="800000"/>
            <a:headEnd/>
            <a:tailEnd/>
          </a:ln>
        </p:spPr>
      </p:pic>
    </p:spTree>
    <p:extLst>
      <p:ext uri="{BB962C8B-B14F-4D97-AF65-F5344CB8AC3E}">
        <p14:creationId xmlns:p14="http://schemas.microsoft.com/office/powerpoint/2010/main" val="2059103720"/>
      </p:ext>
    </p:extLst>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4C0C26C-C3F2-1FD0-C721-9969E4E18D51}"/>
              </a:ext>
            </a:extLst>
          </p:cNvPr>
          <p:cNvPicPr>
            <a:picLocks noChangeAspect="1"/>
          </p:cNvPicPr>
          <p:nvPr/>
        </p:nvPicPr>
        <p:blipFill>
          <a:blip r:embed="rId2"/>
          <a:srcRect/>
          <a:stretch>
            <a:fillRect/>
          </a:stretch>
        </p:blipFill>
        <p:spPr bwMode="auto">
          <a:xfrm>
            <a:off x="111124" y="119906"/>
            <a:ext cx="6589454" cy="567774"/>
          </a:xfrm>
          <a:prstGeom prst="rect">
            <a:avLst/>
          </a:prstGeom>
          <a:noFill/>
          <a:ln w="9525">
            <a:noFill/>
            <a:miter lim="800000"/>
            <a:headEnd/>
            <a:tailEnd/>
          </a:ln>
        </p:spPr>
      </p:pic>
      <p:pic>
        <p:nvPicPr>
          <p:cNvPr id="5" name="Picture 4">
            <a:extLst>
              <a:ext uri="{FF2B5EF4-FFF2-40B4-BE49-F238E27FC236}">
                <a16:creationId xmlns:a16="http://schemas.microsoft.com/office/drawing/2014/main" id="{A8D58B44-2AA9-614F-CF1B-40D17C014F31}"/>
              </a:ext>
            </a:extLst>
          </p:cNvPr>
          <p:cNvPicPr>
            <a:picLocks noChangeAspect="1"/>
          </p:cNvPicPr>
          <p:nvPr/>
        </p:nvPicPr>
        <p:blipFill>
          <a:blip r:embed="rId3"/>
          <a:stretch>
            <a:fillRect/>
          </a:stretch>
        </p:blipFill>
        <p:spPr>
          <a:xfrm>
            <a:off x="0" y="6360159"/>
            <a:ext cx="12191999" cy="497841"/>
          </a:xfrm>
          <a:prstGeom prst="rect">
            <a:avLst/>
          </a:prstGeom>
        </p:spPr>
      </p:pic>
      <p:sp>
        <p:nvSpPr>
          <p:cNvPr id="7" name="TextBox 6">
            <a:extLst>
              <a:ext uri="{FF2B5EF4-FFF2-40B4-BE49-F238E27FC236}">
                <a16:creationId xmlns:a16="http://schemas.microsoft.com/office/drawing/2014/main" id="{7E137110-D1F1-9372-650C-38D27C5F433B}"/>
              </a:ext>
            </a:extLst>
          </p:cNvPr>
          <p:cNvSpPr txBox="1"/>
          <p:nvPr/>
        </p:nvSpPr>
        <p:spPr>
          <a:xfrm>
            <a:off x="226142" y="1105562"/>
            <a:ext cx="6096000" cy="3139321"/>
          </a:xfrm>
          <a:prstGeom prst="rect">
            <a:avLst/>
          </a:prstGeom>
          <a:noFill/>
        </p:spPr>
        <p:txBody>
          <a:bodyPr wrap="square">
            <a:spAutoFit/>
          </a:bodyPr>
          <a:lstStyle/>
          <a:p>
            <a:pPr>
              <a:buNone/>
            </a:pPr>
            <a:endParaRPr lang="en-US" b="1"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1. Power Connections</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     9V Battery (+)</a:t>
            </a:r>
            <a:r>
              <a:rPr lang="en-US" dirty="0">
                <a:latin typeface="Times New Roman" panose="02020603050405020304" pitchFamily="18" charset="0"/>
                <a:cs typeface="Times New Roman" panose="02020603050405020304" pitchFamily="18" charset="0"/>
              </a:rPr>
              <a:t> →12V pin on </a:t>
            </a:r>
            <a:r>
              <a:rPr lang="en-US" b="1" dirty="0">
                <a:latin typeface="Times New Roman" panose="02020603050405020304" pitchFamily="18" charset="0"/>
                <a:cs typeface="Times New Roman" panose="02020603050405020304" pitchFamily="18" charset="0"/>
              </a:rPr>
              <a:t>L298N Motor Driver</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     9V Battery (–)</a:t>
            </a:r>
            <a:r>
              <a:rPr lang="en-US" dirty="0">
                <a:latin typeface="Times New Roman" panose="02020603050405020304" pitchFamily="18" charset="0"/>
                <a:cs typeface="Times New Roman" panose="02020603050405020304" pitchFamily="18" charset="0"/>
              </a:rPr>
              <a:t> →GND on </a:t>
            </a:r>
            <a:r>
              <a:rPr lang="en-US" b="1" dirty="0">
                <a:latin typeface="Times New Roman" panose="02020603050405020304" pitchFamily="18" charset="0"/>
                <a:cs typeface="Times New Roman" panose="02020603050405020304" pitchFamily="18" charset="0"/>
              </a:rPr>
              <a:t>L298N Motor Driver</a:t>
            </a: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2.L298N Motor Driver → DC Motors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OUT1, OUT2</a:t>
            </a:r>
            <a:r>
              <a:rPr lang="en-US" dirty="0">
                <a:latin typeface="Times New Roman" panose="02020603050405020304" pitchFamily="18" charset="0"/>
                <a:cs typeface="Times New Roman" panose="02020603050405020304" pitchFamily="18" charset="0"/>
              </a:rPr>
              <a:t> → Motor A terminals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OUT3, OUT4</a:t>
            </a:r>
            <a:r>
              <a:rPr lang="en-US" dirty="0">
                <a:latin typeface="Times New Roman" panose="02020603050405020304" pitchFamily="18" charset="0"/>
                <a:cs typeface="Times New Roman" panose="02020603050405020304" pitchFamily="18" charset="0"/>
              </a:rPr>
              <a:t> → Motor B terminals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pt-BR" b="1" dirty="0">
                <a:latin typeface="Times New Roman" panose="02020603050405020304" pitchFamily="18" charset="0"/>
                <a:cs typeface="Times New Roman" panose="02020603050405020304" pitchFamily="18" charset="0"/>
              </a:rPr>
              <a:t>3.L298N Motor Driver → Arduino</a:t>
            </a:r>
          </a:p>
          <a:p>
            <a:endParaRPr lang="en-US" b="1" dirty="0"/>
          </a:p>
        </p:txBody>
      </p:sp>
      <p:pic>
        <p:nvPicPr>
          <p:cNvPr id="9" name="Picture 8">
            <a:extLst>
              <a:ext uri="{FF2B5EF4-FFF2-40B4-BE49-F238E27FC236}">
                <a16:creationId xmlns:a16="http://schemas.microsoft.com/office/drawing/2014/main" id="{C7B6553C-E1D7-A88B-DE32-C1B451C8BE0D}"/>
              </a:ext>
            </a:extLst>
          </p:cNvPr>
          <p:cNvPicPr>
            <a:picLocks noChangeAspect="1"/>
          </p:cNvPicPr>
          <p:nvPr/>
        </p:nvPicPr>
        <p:blipFill>
          <a:blip r:embed="rId4"/>
          <a:stretch>
            <a:fillRect/>
          </a:stretch>
        </p:blipFill>
        <p:spPr>
          <a:xfrm>
            <a:off x="1322638" y="4013188"/>
            <a:ext cx="1543265" cy="2257740"/>
          </a:xfrm>
          <a:prstGeom prst="rect">
            <a:avLst/>
          </a:prstGeom>
        </p:spPr>
      </p:pic>
      <p:sp>
        <p:nvSpPr>
          <p:cNvPr id="11" name="TextBox 10">
            <a:extLst>
              <a:ext uri="{FF2B5EF4-FFF2-40B4-BE49-F238E27FC236}">
                <a16:creationId xmlns:a16="http://schemas.microsoft.com/office/drawing/2014/main" id="{8AC05F23-82D0-1E60-A5BA-315CFC3587FD}"/>
              </a:ext>
            </a:extLst>
          </p:cNvPr>
          <p:cNvSpPr txBox="1"/>
          <p:nvPr/>
        </p:nvSpPr>
        <p:spPr>
          <a:xfrm>
            <a:off x="6518787" y="1336522"/>
            <a:ext cx="6096000" cy="80021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rPr>
              <a:t>4. HC-SR04 Ultrasonic Sensor → Arduino UNO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endParaRPr>
          </a:p>
        </p:txBody>
      </p:sp>
      <p:sp>
        <p:nvSpPr>
          <p:cNvPr id="13" name="TextBox 12">
            <a:extLst>
              <a:ext uri="{FF2B5EF4-FFF2-40B4-BE49-F238E27FC236}">
                <a16:creationId xmlns:a16="http://schemas.microsoft.com/office/drawing/2014/main" id="{D7656A9B-01CA-A680-5855-02EC4E86D4F0}"/>
              </a:ext>
            </a:extLst>
          </p:cNvPr>
          <p:cNvSpPr txBox="1"/>
          <p:nvPr/>
        </p:nvSpPr>
        <p:spPr>
          <a:xfrm>
            <a:off x="3099720" y="638873"/>
            <a:ext cx="9591168" cy="707886"/>
          </a:xfrm>
          <a:prstGeom prst="rect">
            <a:avLst/>
          </a:prstGeom>
          <a:noFill/>
        </p:spPr>
        <p:txBody>
          <a:bodyPr wrap="square">
            <a:spAutoFit/>
          </a:bodyPr>
          <a:lstStyle/>
          <a:p>
            <a:r>
              <a:rPr lang="en-US" sz="4000" b="1" dirty="0">
                <a:latin typeface="Times New Roman" panose="02020603050405020304" pitchFamily="18" charset="0"/>
                <a:cs typeface="Times New Roman" panose="02020603050405020304" pitchFamily="18" charset="0"/>
              </a:rPr>
              <a:t>Connections of components</a:t>
            </a:r>
            <a:endParaRPr lang="en-IN" sz="4000" dirty="0"/>
          </a:p>
        </p:txBody>
      </p:sp>
      <p:pic>
        <p:nvPicPr>
          <p:cNvPr id="15" name="Picture 14">
            <a:extLst>
              <a:ext uri="{FF2B5EF4-FFF2-40B4-BE49-F238E27FC236}">
                <a16:creationId xmlns:a16="http://schemas.microsoft.com/office/drawing/2014/main" id="{DD1FB850-5043-0669-6BD9-2A0D11C7B886}"/>
              </a:ext>
            </a:extLst>
          </p:cNvPr>
          <p:cNvPicPr>
            <a:picLocks noChangeAspect="1"/>
          </p:cNvPicPr>
          <p:nvPr/>
        </p:nvPicPr>
        <p:blipFill>
          <a:blip r:embed="rId5"/>
          <a:stretch>
            <a:fillRect/>
          </a:stretch>
        </p:blipFill>
        <p:spPr>
          <a:xfrm>
            <a:off x="7153039" y="1717826"/>
            <a:ext cx="2637075" cy="1497322"/>
          </a:xfrm>
          <a:prstGeom prst="rect">
            <a:avLst/>
          </a:prstGeom>
        </p:spPr>
      </p:pic>
      <p:pic>
        <p:nvPicPr>
          <p:cNvPr id="16" name="Picture 15">
            <a:extLst>
              <a:ext uri="{FF2B5EF4-FFF2-40B4-BE49-F238E27FC236}">
                <a16:creationId xmlns:a16="http://schemas.microsoft.com/office/drawing/2014/main" id="{100B77BD-F359-DCFA-2F60-A7390C2B30F1}"/>
              </a:ext>
            </a:extLst>
          </p:cNvPr>
          <p:cNvPicPr>
            <a:picLocks noChangeAspect="1"/>
          </p:cNvPicPr>
          <p:nvPr/>
        </p:nvPicPr>
        <p:blipFill>
          <a:blip r:embed="rId6"/>
          <a:stretch>
            <a:fillRect/>
          </a:stretch>
        </p:blipFill>
        <p:spPr>
          <a:xfrm>
            <a:off x="3972231" y="3774853"/>
            <a:ext cx="2965286" cy="2350553"/>
          </a:xfrm>
          <a:prstGeom prst="rect">
            <a:avLst/>
          </a:prstGeom>
        </p:spPr>
      </p:pic>
      <p:pic>
        <p:nvPicPr>
          <p:cNvPr id="17" name="Picture 16">
            <a:extLst>
              <a:ext uri="{FF2B5EF4-FFF2-40B4-BE49-F238E27FC236}">
                <a16:creationId xmlns:a16="http://schemas.microsoft.com/office/drawing/2014/main" id="{FEBA4BB9-05C5-A08F-1CBD-4936E07E8EEC}"/>
              </a:ext>
            </a:extLst>
          </p:cNvPr>
          <p:cNvPicPr>
            <a:picLocks noChangeAspect="1"/>
          </p:cNvPicPr>
          <p:nvPr/>
        </p:nvPicPr>
        <p:blipFill>
          <a:blip r:embed="rId7"/>
          <a:stretch>
            <a:fillRect/>
          </a:stretch>
        </p:blipFill>
        <p:spPr>
          <a:xfrm>
            <a:off x="7084517" y="3774853"/>
            <a:ext cx="4881341" cy="2350553"/>
          </a:xfrm>
          <a:prstGeom prst="rect">
            <a:avLst/>
          </a:prstGeom>
        </p:spPr>
      </p:pic>
      <p:pic>
        <p:nvPicPr>
          <p:cNvPr id="18" name="Picture 17">
            <a:extLst>
              <a:ext uri="{FF2B5EF4-FFF2-40B4-BE49-F238E27FC236}">
                <a16:creationId xmlns:a16="http://schemas.microsoft.com/office/drawing/2014/main" id="{B406EB5B-726D-BCE9-5656-01F3FA62C256}"/>
              </a:ext>
            </a:extLst>
          </p:cNvPr>
          <p:cNvPicPr>
            <a:picLocks noChangeAspect="1"/>
          </p:cNvPicPr>
          <p:nvPr/>
        </p:nvPicPr>
        <p:blipFill>
          <a:blip r:embed="rId8"/>
          <a:stretch>
            <a:fillRect/>
          </a:stretch>
        </p:blipFill>
        <p:spPr>
          <a:xfrm>
            <a:off x="4717392" y="3540100"/>
            <a:ext cx="1474964" cy="412018"/>
          </a:xfrm>
          <a:prstGeom prst="rect">
            <a:avLst/>
          </a:prstGeom>
        </p:spPr>
      </p:pic>
    </p:spTree>
    <p:extLst>
      <p:ext uri="{BB962C8B-B14F-4D97-AF65-F5344CB8AC3E}">
        <p14:creationId xmlns:p14="http://schemas.microsoft.com/office/powerpoint/2010/main" val="3985376150"/>
      </p:ext>
    </p:extLst>
  </p:cSld>
  <p:clrMapOvr>
    <a:masterClrMapping/>
  </p:clrMapOvr>
  <p:transition spd="med">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F5679-0DF9-AC53-5429-EE0983C66EA4}"/>
              </a:ext>
            </a:extLst>
          </p:cNvPr>
          <p:cNvSpPr>
            <a:spLocks noGrp="1"/>
          </p:cNvSpPr>
          <p:nvPr>
            <p:ph type="title"/>
          </p:nvPr>
        </p:nvSpPr>
        <p:spPr>
          <a:xfrm>
            <a:off x="4912360" y="687680"/>
            <a:ext cx="2367280" cy="1325563"/>
          </a:xfrm>
        </p:spPr>
        <p:txBody>
          <a:bodyPr>
            <a:normAutofit/>
          </a:bodyPr>
          <a:lstStyle/>
          <a:p>
            <a:r>
              <a:rPr lang="en-US" sz="4000" b="1" dirty="0">
                <a:latin typeface="Times New Roman" pitchFamily="18" charset="0"/>
                <a:cs typeface="Times New Roman" pitchFamily="18" charset="0"/>
              </a:rPr>
              <a:t>Results</a:t>
            </a:r>
            <a:br>
              <a:rPr lang="en-US" sz="4000" b="1" dirty="0">
                <a:latin typeface="Times New Roman" pitchFamily="18" charset="0"/>
                <a:cs typeface="Times New Roman" pitchFamily="18" charset="0"/>
              </a:rPr>
            </a:br>
            <a:endParaRPr lang="en-IN" sz="4000" b="1" dirty="0"/>
          </a:p>
        </p:txBody>
      </p:sp>
      <p:pic>
        <p:nvPicPr>
          <p:cNvPr id="5" name="Content Placeholder 4">
            <a:extLst>
              <a:ext uri="{FF2B5EF4-FFF2-40B4-BE49-F238E27FC236}">
                <a16:creationId xmlns:a16="http://schemas.microsoft.com/office/drawing/2014/main" id="{74734118-AF4C-EFED-07D0-7CE95F21CF14}"/>
              </a:ext>
            </a:extLst>
          </p:cNvPr>
          <p:cNvPicPr>
            <a:picLocks noGrp="1" noChangeAspect="1"/>
          </p:cNvPicPr>
          <p:nvPr>
            <p:ph idx="1"/>
          </p:nvPr>
        </p:nvPicPr>
        <p:blipFill>
          <a:blip r:embed="rId2"/>
          <a:stretch>
            <a:fillRect/>
          </a:stretch>
        </p:blipFill>
        <p:spPr>
          <a:xfrm>
            <a:off x="0" y="6339840"/>
            <a:ext cx="12192000" cy="518160"/>
          </a:xfrm>
          <a:prstGeom prst="rect">
            <a:avLst/>
          </a:prstGeom>
        </p:spPr>
      </p:pic>
      <p:pic>
        <p:nvPicPr>
          <p:cNvPr id="6" name="Picture 5">
            <a:extLst>
              <a:ext uri="{FF2B5EF4-FFF2-40B4-BE49-F238E27FC236}">
                <a16:creationId xmlns:a16="http://schemas.microsoft.com/office/drawing/2014/main" id="{964D994B-88DE-9769-209C-C3EAE0AA5CB0}"/>
              </a:ext>
            </a:extLst>
          </p:cNvPr>
          <p:cNvPicPr>
            <a:picLocks noChangeAspect="1"/>
          </p:cNvPicPr>
          <p:nvPr/>
        </p:nvPicPr>
        <p:blipFill>
          <a:blip r:embed="rId3"/>
          <a:srcRect/>
          <a:stretch>
            <a:fillRect/>
          </a:stretch>
        </p:blipFill>
        <p:spPr bwMode="auto">
          <a:xfrm>
            <a:off x="111124" y="119906"/>
            <a:ext cx="6589454" cy="567774"/>
          </a:xfrm>
          <a:prstGeom prst="rect">
            <a:avLst/>
          </a:prstGeom>
          <a:noFill/>
          <a:ln w="9525">
            <a:noFill/>
            <a:miter lim="800000"/>
            <a:headEnd/>
            <a:tailEnd/>
          </a:ln>
        </p:spPr>
      </p:pic>
      <p:sp>
        <p:nvSpPr>
          <p:cNvPr id="8" name="TextBox 7">
            <a:extLst>
              <a:ext uri="{FF2B5EF4-FFF2-40B4-BE49-F238E27FC236}">
                <a16:creationId xmlns:a16="http://schemas.microsoft.com/office/drawing/2014/main" id="{33205036-E24D-0317-4F8B-382DCE6F5053}"/>
              </a:ext>
            </a:extLst>
          </p:cNvPr>
          <p:cNvSpPr txBox="1"/>
          <p:nvPr/>
        </p:nvSpPr>
        <p:spPr>
          <a:xfrm>
            <a:off x="111123" y="1243608"/>
            <a:ext cx="11982553" cy="2862322"/>
          </a:xfrm>
          <a:prstGeom prst="rect">
            <a:avLst/>
          </a:prstGeom>
          <a:noFill/>
        </p:spPr>
        <p:txBody>
          <a:bodyPr wrap="square">
            <a:spAutoFit/>
          </a:bodyPr>
          <a:lstStyle/>
          <a:p>
            <a:pPr algn="just"/>
            <a:r>
              <a:rPr lang="en-IN" dirty="0"/>
              <a:t>​The project successfully resulted in an autonomous obstacle avoiding robot governed by the provided Arduino code.</a:t>
            </a:r>
          </a:p>
          <a:p>
            <a:pPr marL="285750" indent="-285750" algn="just">
              <a:buFont typeface="Arial" panose="020B0604020202020204" pitchFamily="34" charset="0"/>
              <a:buChar char="•"/>
            </a:pPr>
            <a:r>
              <a:rPr lang="en-IN" dirty="0"/>
              <a:t>​​</a:t>
            </a:r>
            <a:r>
              <a:rPr lang="en-IN" b="1" dirty="0"/>
              <a:t>Autonomous Navigation: </a:t>
            </a:r>
            <a:r>
              <a:rPr lang="en-IN" dirty="0"/>
              <a:t>The robot is capable of operating without direct human control.</a:t>
            </a:r>
          </a:p>
          <a:p>
            <a:pPr marL="285750" indent="-285750" algn="just">
              <a:buFont typeface="Arial" panose="020B0604020202020204" pitchFamily="34" charset="0"/>
              <a:buChar char="•"/>
            </a:pPr>
            <a:r>
              <a:rPr lang="en-IN" dirty="0"/>
              <a:t>​</a:t>
            </a:r>
            <a:r>
              <a:rPr lang="en-IN" b="1" dirty="0"/>
              <a:t>Collision Avoidance: </a:t>
            </a:r>
            <a:r>
              <a:rPr lang="en-IN" dirty="0"/>
              <a:t>Using the Ultrasonic Sensor (HC-SR04), the robot accurately measures the distance to objects in its path.​</a:t>
            </a:r>
          </a:p>
          <a:p>
            <a:pPr marL="285750" indent="-285750" algn="just">
              <a:buFont typeface="Arial" panose="020B0604020202020204" pitchFamily="34" charset="0"/>
              <a:buChar char="•"/>
            </a:pPr>
            <a:r>
              <a:rPr lang="en-IN" b="1" dirty="0"/>
              <a:t>Intelligent Decision-Making: </a:t>
            </a:r>
            <a:r>
              <a:rPr lang="en-IN" dirty="0"/>
              <a:t>When an obstacle is detected (distance \le threshold), the robot stops, briefly backs up, and uses the Servo Motor to sweep the sensor left and right to determine the clearest path.</a:t>
            </a:r>
          </a:p>
          <a:p>
            <a:pPr marL="285750" indent="-285750" algn="just">
              <a:buFont typeface="Arial" panose="020B0604020202020204" pitchFamily="34" charset="0"/>
              <a:buChar char="•"/>
            </a:pPr>
            <a:r>
              <a:rPr lang="en-IN" dirty="0"/>
              <a:t>​</a:t>
            </a:r>
            <a:r>
              <a:rPr lang="en-IN" b="1" dirty="0"/>
              <a:t>Path Correction: </a:t>
            </a:r>
            <a:r>
              <a:rPr lang="en-IN" dirty="0"/>
              <a:t>Based on the distance measurement, the robot initiates a turn (left or right) using the DC Motors to navigate around the obstacle before resuming forward movement.​</a:t>
            </a:r>
          </a:p>
          <a:p>
            <a:pPr algn="just"/>
            <a:r>
              <a:rPr lang="en-IN" dirty="0"/>
              <a:t>The final result is a functional system that continuously executes the Sense -&gt;Decide -&gt; Act loop, fulfilling the core objective of autonomous obstacle avoidance.</a:t>
            </a:r>
          </a:p>
        </p:txBody>
      </p:sp>
      <p:pic>
        <p:nvPicPr>
          <p:cNvPr id="4" name="Picture 3">
            <a:extLst>
              <a:ext uri="{FF2B5EF4-FFF2-40B4-BE49-F238E27FC236}">
                <a16:creationId xmlns:a16="http://schemas.microsoft.com/office/drawing/2014/main" id="{1DC69531-566E-5BF9-EDB1-0489BA873AB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40078" y="4100412"/>
            <a:ext cx="3755922" cy="2244946"/>
          </a:xfrm>
          <a:prstGeom prst="rect">
            <a:avLst/>
          </a:prstGeom>
        </p:spPr>
      </p:pic>
      <p:pic>
        <p:nvPicPr>
          <p:cNvPr id="9" name="Picture 8">
            <a:extLst>
              <a:ext uri="{FF2B5EF4-FFF2-40B4-BE49-F238E27FC236}">
                <a16:creationId xmlns:a16="http://schemas.microsoft.com/office/drawing/2014/main" id="{8C8A6510-5B50-46FA-DFAB-EFE44C920AD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96001" y="4083069"/>
            <a:ext cx="3667432" cy="2256770"/>
          </a:xfrm>
          <a:prstGeom prst="rect">
            <a:avLst/>
          </a:prstGeom>
        </p:spPr>
      </p:pic>
    </p:spTree>
    <p:extLst>
      <p:ext uri="{BB962C8B-B14F-4D97-AF65-F5344CB8AC3E}">
        <p14:creationId xmlns:p14="http://schemas.microsoft.com/office/powerpoint/2010/main" val="3466498029"/>
      </p:ext>
    </p:extLst>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8C1DA-CD6D-F617-67BA-A836059266D1}"/>
              </a:ext>
            </a:extLst>
          </p:cNvPr>
          <p:cNvSpPr>
            <a:spLocks noGrp="1"/>
          </p:cNvSpPr>
          <p:nvPr>
            <p:ph type="ctrTitle"/>
          </p:nvPr>
        </p:nvSpPr>
        <p:spPr>
          <a:xfrm>
            <a:off x="4017969" y="580467"/>
            <a:ext cx="3637280" cy="1559877"/>
          </a:xfrm>
        </p:spPr>
        <p:txBody>
          <a:bodyPr>
            <a:normAutofit/>
          </a:bodyPr>
          <a:lstStyle/>
          <a:p>
            <a:r>
              <a:rPr lang="en-US" sz="4000" b="1" dirty="0">
                <a:latin typeface="Times New Roman" pitchFamily="18" charset="0"/>
                <a:cs typeface="Times New Roman" pitchFamily="18" charset="0"/>
              </a:rPr>
              <a:t>Result Analysis</a:t>
            </a:r>
            <a:br>
              <a:rPr lang="en-US" sz="4000" b="1" dirty="0">
                <a:latin typeface="Times New Roman" pitchFamily="18" charset="0"/>
                <a:cs typeface="Times New Roman" pitchFamily="18" charset="0"/>
              </a:rPr>
            </a:br>
            <a:endParaRPr lang="en-IN" sz="4000" b="1" dirty="0"/>
          </a:p>
        </p:txBody>
      </p:sp>
      <p:pic>
        <p:nvPicPr>
          <p:cNvPr id="5" name="Picture 4">
            <a:extLst>
              <a:ext uri="{FF2B5EF4-FFF2-40B4-BE49-F238E27FC236}">
                <a16:creationId xmlns:a16="http://schemas.microsoft.com/office/drawing/2014/main" id="{19A3C63D-ED9F-F60A-7427-BE54E14C0A85}"/>
              </a:ext>
            </a:extLst>
          </p:cNvPr>
          <p:cNvPicPr>
            <a:picLocks noChangeAspect="1"/>
          </p:cNvPicPr>
          <p:nvPr/>
        </p:nvPicPr>
        <p:blipFill>
          <a:blip r:embed="rId2"/>
          <a:stretch>
            <a:fillRect/>
          </a:stretch>
        </p:blipFill>
        <p:spPr>
          <a:xfrm>
            <a:off x="1" y="6350000"/>
            <a:ext cx="12191999" cy="508000"/>
          </a:xfrm>
          <a:prstGeom prst="rect">
            <a:avLst/>
          </a:prstGeom>
        </p:spPr>
      </p:pic>
      <p:pic>
        <p:nvPicPr>
          <p:cNvPr id="6" name="Picture 5">
            <a:extLst>
              <a:ext uri="{FF2B5EF4-FFF2-40B4-BE49-F238E27FC236}">
                <a16:creationId xmlns:a16="http://schemas.microsoft.com/office/drawing/2014/main" id="{499527E1-AE65-D7A9-0A8E-8BD85D9D93B0}"/>
              </a:ext>
            </a:extLst>
          </p:cNvPr>
          <p:cNvPicPr>
            <a:picLocks noChangeAspect="1"/>
          </p:cNvPicPr>
          <p:nvPr/>
        </p:nvPicPr>
        <p:blipFill>
          <a:blip r:embed="rId3"/>
          <a:srcRect/>
          <a:stretch>
            <a:fillRect/>
          </a:stretch>
        </p:blipFill>
        <p:spPr bwMode="auto">
          <a:xfrm>
            <a:off x="111124" y="119906"/>
            <a:ext cx="6589454" cy="567774"/>
          </a:xfrm>
          <a:prstGeom prst="rect">
            <a:avLst/>
          </a:prstGeom>
          <a:noFill/>
          <a:ln w="9525">
            <a:noFill/>
            <a:miter lim="800000"/>
            <a:headEnd/>
            <a:tailEnd/>
          </a:ln>
        </p:spPr>
      </p:pic>
      <p:sp>
        <p:nvSpPr>
          <p:cNvPr id="8" name="TextBox 7">
            <a:extLst>
              <a:ext uri="{FF2B5EF4-FFF2-40B4-BE49-F238E27FC236}">
                <a16:creationId xmlns:a16="http://schemas.microsoft.com/office/drawing/2014/main" id="{8368341D-6F8D-B44D-85E5-D7A0504A4512}"/>
              </a:ext>
            </a:extLst>
          </p:cNvPr>
          <p:cNvSpPr txBox="1"/>
          <p:nvPr/>
        </p:nvSpPr>
        <p:spPr>
          <a:xfrm>
            <a:off x="2481943" y="2033130"/>
            <a:ext cx="7476152" cy="3970318"/>
          </a:xfrm>
          <a:prstGeom prst="rect">
            <a:avLst/>
          </a:prstGeom>
          <a:noFill/>
        </p:spPr>
        <p:txBody>
          <a:bodyPr wrap="square">
            <a:spAutoFit/>
          </a:bodyPr>
          <a:lstStyle/>
          <a:p>
            <a:r>
              <a:rPr lang="en-IN" dirty="0"/>
              <a:t>The project is a successful autonomous obstacle avoiding robot.</a:t>
            </a:r>
          </a:p>
          <a:p>
            <a:r>
              <a:rPr lang="en-IN" dirty="0"/>
              <a:t>​The analysis confirms three key functional results:​</a:t>
            </a:r>
          </a:p>
          <a:p>
            <a:r>
              <a:rPr lang="en-IN" dirty="0"/>
              <a:t>1</a:t>
            </a:r>
            <a:r>
              <a:rPr lang="en-IN" b="1" dirty="0"/>
              <a:t>.Effective Sensing: </a:t>
            </a:r>
            <a:r>
              <a:rPr lang="en-IN" dirty="0"/>
              <a:t>The Ultrasonic Sensor reliably detects obstacles by continuously measuring distance (d) and triggering the avoidance sequence when d &lt;=Threshold.</a:t>
            </a:r>
          </a:p>
          <a:p>
            <a:r>
              <a:rPr lang="en-IN" dirty="0"/>
              <a:t>2.​</a:t>
            </a:r>
            <a:r>
              <a:rPr lang="en-IN" b="1" dirty="0"/>
              <a:t>Intelligent Decision-Making: </a:t>
            </a:r>
            <a:r>
              <a:rPr lang="en-IN" dirty="0"/>
              <a:t>The Servo Motor enables the robot to scan the environment, compare clearance on the left (</a:t>
            </a:r>
            <a:r>
              <a:rPr lang="en-IN" dirty="0" err="1"/>
              <a:t>dLeft</a:t>
            </a:r>
            <a:r>
              <a:rPr lang="en-IN" dirty="0"/>
              <a:t>) and right (d Right) sides, and correctly choose the path with maximum distance.​</a:t>
            </a:r>
          </a:p>
          <a:p>
            <a:r>
              <a:rPr lang="en-IN" dirty="0"/>
              <a:t>3.</a:t>
            </a:r>
            <a:r>
              <a:rPr lang="en-IN" b="1" dirty="0"/>
              <a:t>Coordinated Actuation: </a:t>
            </a:r>
            <a:r>
              <a:rPr lang="en-IN" dirty="0"/>
              <a:t>The DC Motors execute precise actions (</a:t>
            </a:r>
            <a:r>
              <a:rPr lang="en-IN" dirty="0" err="1"/>
              <a:t>moveBackward</a:t>
            </a:r>
            <a:r>
              <a:rPr lang="en-IN" dirty="0"/>
              <a:t>(), </a:t>
            </a:r>
            <a:r>
              <a:rPr lang="en-IN" dirty="0" err="1"/>
              <a:t>turnLeft</a:t>
            </a:r>
            <a:r>
              <a:rPr lang="en-IN" dirty="0"/>
              <a:t>()/</a:t>
            </a:r>
            <a:r>
              <a:rPr lang="en-IN" dirty="0" err="1"/>
              <a:t>turnRight</a:t>
            </a:r>
            <a:r>
              <a:rPr lang="en-IN" dirty="0"/>
              <a:t>()) followed by calculated delays to ensure physical movement is complete before resuming forward travel, resulting in smooth obstacle bypass.</a:t>
            </a:r>
          </a:p>
          <a:p>
            <a:r>
              <a:rPr lang="en-IN" dirty="0"/>
              <a:t>​In short, the robot demonstrates robust, reactive control for autonomous navigation.</a:t>
            </a:r>
          </a:p>
        </p:txBody>
      </p:sp>
    </p:spTree>
    <p:extLst>
      <p:ext uri="{BB962C8B-B14F-4D97-AF65-F5344CB8AC3E}">
        <p14:creationId xmlns:p14="http://schemas.microsoft.com/office/powerpoint/2010/main" val="724190625"/>
      </p:ext>
    </p:extLst>
  </p:cSld>
  <p:clrMapOvr>
    <a:masterClrMapping/>
  </p:clrMapOvr>
  <p:transition spd="med">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1240A-5F51-525B-7684-781B6B7AE757}"/>
              </a:ext>
            </a:extLst>
          </p:cNvPr>
          <p:cNvSpPr>
            <a:spLocks noGrp="1"/>
          </p:cNvSpPr>
          <p:nvPr>
            <p:ph type="ctrTitle"/>
          </p:nvPr>
        </p:nvSpPr>
        <p:spPr>
          <a:xfrm>
            <a:off x="3820160" y="-242741"/>
            <a:ext cx="4053840" cy="2387600"/>
          </a:xfrm>
        </p:spPr>
        <p:txBody>
          <a:bodyPr>
            <a:normAutofit/>
          </a:bodyPr>
          <a:lstStyle/>
          <a:p>
            <a:r>
              <a:rPr lang="en-US" sz="4000" b="1" dirty="0">
                <a:latin typeface="Times New Roman" pitchFamily="18" charset="0"/>
                <a:cs typeface="Times New Roman" pitchFamily="18" charset="0"/>
              </a:rPr>
              <a:t>Conclusion</a:t>
            </a:r>
            <a:br>
              <a:rPr lang="en-US" sz="4000" b="1" dirty="0">
                <a:latin typeface="Times New Roman" pitchFamily="18" charset="0"/>
                <a:cs typeface="Times New Roman" pitchFamily="18" charset="0"/>
              </a:rPr>
            </a:br>
            <a:endParaRPr lang="en-IN" sz="4000" b="1" dirty="0"/>
          </a:p>
        </p:txBody>
      </p:sp>
      <p:pic>
        <p:nvPicPr>
          <p:cNvPr id="5" name="Picture 4">
            <a:extLst>
              <a:ext uri="{FF2B5EF4-FFF2-40B4-BE49-F238E27FC236}">
                <a16:creationId xmlns:a16="http://schemas.microsoft.com/office/drawing/2014/main" id="{09152A4E-CEFB-5CE1-34F7-787A29841658}"/>
              </a:ext>
            </a:extLst>
          </p:cNvPr>
          <p:cNvPicPr>
            <a:picLocks noChangeAspect="1"/>
          </p:cNvPicPr>
          <p:nvPr/>
        </p:nvPicPr>
        <p:blipFill>
          <a:blip r:embed="rId2"/>
          <a:stretch>
            <a:fillRect/>
          </a:stretch>
        </p:blipFill>
        <p:spPr>
          <a:xfrm>
            <a:off x="1" y="6364891"/>
            <a:ext cx="12191999" cy="493109"/>
          </a:xfrm>
          <a:prstGeom prst="rect">
            <a:avLst/>
          </a:prstGeom>
        </p:spPr>
      </p:pic>
      <p:pic>
        <p:nvPicPr>
          <p:cNvPr id="6" name="Picture 5">
            <a:extLst>
              <a:ext uri="{FF2B5EF4-FFF2-40B4-BE49-F238E27FC236}">
                <a16:creationId xmlns:a16="http://schemas.microsoft.com/office/drawing/2014/main" id="{8137944F-7182-E166-EC43-1721AF0D893B}"/>
              </a:ext>
            </a:extLst>
          </p:cNvPr>
          <p:cNvPicPr>
            <a:picLocks noChangeAspect="1"/>
          </p:cNvPicPr>
          <p:nvPr/>
        </p:nvPicPr>
        <p:blipFill>
          <a:blip r:embed="rId3"/>
          <a:srcRect/>
          <a:stretch>
            <a:fillRect/>
          </a:stretch>
        </p:blipFill>
        <p:spPr bwMode="auto">
          <a:xfrm>
            <a:off x="111124" y="119906"/>
            <a:ext cx="6589454" cy="567774"/>
          </a:xfrm>
          <a:prstGeom prst="rect">
            <a:avLst/>
          </a:prstGeom>
          <a:noFill/>
          <a:ln w="9525">
            <a:noFill/>
            <a:miter lim="800000"/>
            <a:headEnd/>
            <a:tailEnd/>
          </a:ln>
        </p:spPr>
      </p:pic>
      <p:sp>
        <p:nvSpPr>
          <p:cNvPr id="8" name="TextBox 7">
            <a:extLst>
              <a:ext uri="{FF2B5EF4-FFF2-40B4-BE49-F238E27FC236}">
                <a16:creationId xmlns:a16="http://schemas.microsoft.com/office/drawing/2014/main" id="{2131F579-AD8B-B99A-05F7-99601164AFE3}"/>
              </a:ext>
            </a:extLst>
          </p:cNvPr>
          <p:cNvSpPr txBox="1"/>
          <p:nvPr/>
        </p:nvSpPr>
        <p:spPr>
          <a:xfrm>
            <a:off x="2438011" y="2144859"/>
            <a:ext cx="7315977" cy="3139321"/>
          </a:xfrm>
          <a:prstGeom prst="rect">
            <a:avLst/>
          </a:prstGeom>
          <a:noFill/>
        </p:spPr>
        <p:txBody>
          <a:bodyPr wrap="square">
            <a:spAutoFit/>
          </a:bodyPr>
          <a:lstStyle/>
          <a:p>
            <a:pPr algn="just">
              <a:buNone/>
            </a:pPr>
            <a:r>
              <a:rPr lang="en-US" sz="1800" dirty="0">
                <a:solidFill>
                  <a:srgbClr val="000000"/>
                </a:solidFill>
                <a:effectLst/>
                <a:latin typeface="Times New Roman" panose="02020603050405020304" pitchFamily="18" charset="0"/>
              </a:rPr>
              <a:t>The Arduino-based obstacle-avoiding robot project successfully demonstrates the application of embedded systems and sensor-based automation in robotics. By integrating key hardware components such as the Arduino Uno, ultrasonic sensor, motor driver module, and DC motors, the robot achieves autonomous navigation by detecting and avoiding obstacles in real-time. The ultrasonic sensor plays a crucial role in continuously monitoring the robot’s surroundings, while the Arduino processes the input data and controls </a:t>
            </a:r>
            <a:endParaRPr lang="en-US" dirty="0"/>
          </a:p>
          <a:p>
            <a:pPr algn="just">
              <a:buNone/>
            </a:pPr>
            <a:r>
              <a:rPr lang="en-US" sz="1800" dirty="0">
                <a:solidFill>
                  <a:srgbClr val="000000"/>
                </a:solidFill>
                <a:effectLst/>
                <a:latin typeface="Times New Roman" panose="02020603050405020304" pitchFamily="18" charset="0"/>
              </a:rPr>
              <a:t>the motor movements accordingly. This project offers a low-cost, beginner-friendly platform to understand the fundamentals of autonomous robotics, including sensor interfacing, real-time decision-making, and movement control.</a:t>
            </a:r>
            <a:endParaRPr lang="en-IN" dirty="0"/>
          </a:p>
        </p:txBody>
      </p:sp>
    </p:spTree>
    <p:extLst>
      <p:ext uri="{BB962C8B-B14F-4D97-AF65-F5344CB8AC3E}">
        <p14:creationId xmlns:p14="http://schemas.microsoft.com/office/powerpoint/2010/main" val="3659361248"/>
      </p:ext>
    </p:extLst>
  </p:cSld>
  <p:clrMapOvr>
    <a:masterClrMapping/>
  </p:clrMapOvr>
  <p:transition spd="med">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5625DAF-24D6-8EBD-5E53-2482B8FAD64D}"/>
              </a:ext>
            </a:extLst>
          </p:cNvPr>
          <p:cNvPicPr>
            <a:picLocks noChangeAspect="1"/>
          </p:cNvPicPr>
          <p:nvPr/>
        </p:nvPicPr>
        <p:blipFill>
          <a:blip r:embed="rId2"/>
          <a:srcRect/>
          <a:stretch>
            <a:fillRect/>
          </a:stretch>
        </p:blipFill>
        <p:spPr bwMode="auto">
          <a:xfrm>
            <a:off x="111124" y="119906"/>
            <a:ext cx="6589454" cy="567774"/>
          </a:xfrm>
          <a:prstGeom prst="rect">
            <a:avLst/>
          </a:prstGeom>
          <a:noFill/>
          <a:ln w="9525">
            <a:noFill/>
            <a:miter lim="800000"/>
            <a:headEnd/>
            <a:tailEnd/>
          </a:ln>
        </p:spPr>
      </p:pic>
      <p:sp>
        <p:nvSpPr>
          <p:cNvPr id="4" name="Rectangle 3">
            <a:extLst>
              <a:ext uri="{FF2B5EF4-FFF2-40B4-BE49-F238E27FC236}">
                <a16:creationId xmlns:a16="http://schemas.microsoft.com/office/drawing/2014/main" id="{C02A7304-D3D1-CC51-18E2-90C714F134D9}"/>
              </a:ext>
            </a:extLst>
          </p:cNvPr>
          <p:cNvSpPr/>
          <p:nvPr/>
        </p:nvSpPr>
        <p:spPr>
          <a:xfrm>
            <a:off x="-10160" y="6431280"/>
            <a:ext cx="12192000" cy="4267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i="1" dirty="0">
                <a:latin typeface="Times New Roman" panose="02020603050405020304" pitchFamily="18" charset="0"/>
                <a:cs typeface="Times New Roman" panose="02020603050405020304" pitchFamily="18" charset="0"/>
              </a:rPr>
              <a:t>Department of CSE – (IoT &amp; CSBT)                                                                                                                                       2025-26</a:t>
            </a:r>
            <a:endParaRPr lang="en-IN" dirty="0"/>
          </a:p>
        </p:txBody>
      </p:sp>
      <p:sp>
        <p:nvSpPr>
          <p:cNvPr id="8" name="TextBox 7">
            <a:extLst>
              <a:ext uri="{FF2B5EF4-FFF2-40B4-BE49-F238E27FC236}">
                <a16:creationId xmlns:a16="http://schemas.microsoft.com/office/drawing/2014/main" id="{A09FBAEF-6E2D-0040-E6D3-5EC32B656B60}"/>
              </a:ext>
            </a:extLst>
          </p:cNvPr>
          <p:cNvSpPr txBox="1"/>
          <p:nvPr/>
        </p:nvSpPr>
        <p:spPr>
          <a:xfrm>
            <a:off x="4379790" y="735889"/>
            <a:ext cx="6126480" cy="707886"/>
          </a:xfrm>
          <a:prstGeom prst="rect">
            <a:avLst/>
          </a:prstGeom>
          <a:noFill/>
        </p:spPr>
        <p:txBody>
          <a:bodyPr wrap="square">
            <a:spAutoFit/>
          </a:bodyPr>
          <a:lstStyle/>
          <a:p>
            <a:r>
              <a:rPr lang="en-US" sz="4000" b="1" dirty="0">
                <a:latin typeface="Times New Roman" pitchFamily="18" charset="0"/>
                <a:cs typeface="Times New Roman" pitchFamily="18" charset="0"/>
              </a:rPr>
              <a:t>References</a:t>
            </a:r>
          </a:p>
        </p:txBody>
      </p:sp>
      <p:sp>
        <p:nvSpPr>
          <p:cNvPr id="10" name="TextBox 9">
            <a:extLst>
              <a:ext uri="{FF2B5EF4-FFF2-40B4-BE49-F238E27FC236}">
                <a16:creationId xmlns:a16="http://schemas.microsoft.com/office/drawing/2014/main" id="{A5555D74-0282-527F-26AE-64E0FEC1E5E7}"/>
              </a:ext>
            </a:extLst>
          </p:cNvPr>
          <p:cNvSpPr txBox="1"/>
          <p:nvPr/>
        </p:nvSpPr>
        <p:spPr>
          <a:xfrm>
            <a:off x="1728496" y="1876759"/>
            <a:ext cx="8964385" cy="3693319"/>
          </a:xfrm>
          <a:prstGeom prst="rect">
            <a:avLst/>
          </a:prstGeom>
          <a:noFill/>
        </p:spPr>
        <p:txBody>
          <a:bodyPr wrap="square">
            <a:spAutoFit/>
          </a:bodyPr>
          <a:lstStyle/>
          <a:p>
            <a:pPr marL="285750" indent="-285750" algn="just">
              <a:buFont typeface="Wingdings" panose="05000000000000000000" pitchFamily="2" charset="2"/>
              <a:buChar char="Ø"/>
            </a:pPr>
            <a:r>
              <a:rPr lang="en-IN" sz="1800" b="1" dirty="0">
                <a:solidFill>
                  <a:srgbClr val="000000"/>
                </a:solidFill>
                <a:effectLst/>
                <a:latin typeface="TimesNewRomanPS-BoldMT"/>
              </a:rPr>
              <a:t>Arduino Motor Shield Library </a:t>
            </a:r>
            <a:endParaRPr lang="en-IN" dirty="0"/>
          </a:p>
          <a:p>
            <a:pPr algn="just"/>
            <a:r>
              <a:rPr lang="en-IN" sz="1800" dirty="0">
                <a:solidFill>
                  <a:srgbClr val="000000"/>
                </a:solidFill>
                <a:effectLst/>
                <a:latin typeface="Times New Roman" panose="02020603050405020304" pitchFamily="18" charset="0"/>
              </a:rPr>
              <a:t>     Arduino provides an official Motor Shield Library that facilitates controlling DC motors </a:t>
            </a:r>
            <a:endParaRPr lang="en-IN" dirty="0"/>
          </a:p>
          <a:p>
            <a:pPr algn="just"/>
            <a:r>
              <a:rPr lang="en-IN" sz="1800" dirty="0">
                <a:solidFill>
                  <a:srgbClr val="000000"/>
                </a:solidFill>
                <a:effectLst/>
                <a:latin typeface="Times New Roman" panose="02020603050405020304" pitchFamily="18" charset="0"/>
              </a:rPr>
              <a:t>     and stepper motors. This library simplifies PWM signal generation and direction control, </a:t>
            </a:r>
            <a:endParaRPr lang="en-IN" dirty="0"/>
          </a:p>
          <a:p>
            <a:pPr algn="just"/>
            <a:r>
              <a:rPr lang="en-IN" dirty="0">
                <a:solidFill>
                  <a:srgbClr val="000000"/>
                </a:solidFill>
                <a:latin typeface="Wingdings" panose="05000000000000000000" pitchFamily="2" charset="2"/>
              </a:rPr>
              <a:t> </a:t>
            </a:r>
            <a:r>
              <a:rPr lang="en-IN" sz="1800" dirty="0">
                <a:solidFill>
                  <a:srgbClr val="000000"/>
                </a:solidFill>
                <a:effectLst/>
                <a:latin typeface="Times New Roman" panose="02020603050405020304" pitchFamily="18" charset="0"/>
              </a:rPr>
              <a:t>essential for obstacle-avoiding robots. </a:t>
            </a:r>
            <a:endParaRPr lang="en-IN" dirty="0"/>
          </a:p>
          <a:p>
            <a:pPr marL="285750" indent="-285750" algn="just">
              <a:buFont typeface="Wingdings" panose="05000000000000000000" pitchFamily="2" charset="2"/>
              <a:buChar char="Ø"/>
            </a:pPr>
            <a:r>
              <a:rPr lang="en-IN" sz="1800" b="1" dirty="0">
                <a:solidFill>
                  <a:srgbClr val="000000"/>
                </a:solidFill>
                <a:effectLst/>
                <a:latin typeface="TimesNewRomanPS-BoldMT"/>
              </a:rPr>
              <a:t>Servo Library </a:t>
            </a:r>
            <a:endParaRPr lang="en-IN" dirty="0"/>
          </a:p>
          <a:p>
            <a:pPr algn="just"/>
            <a:r>
              <a:rPr lang="en-IN" sz="1800" dirty="0">
                <a:solidFill>
                  <a:srgbClr val="000000"/>
                </a:solidFill>
                <a:effectLst/>
                <a:latin typeface="Times New Roman" panose="02020603050405020304" pitchFamily="18" charset="0"/>
              </a:rPr>
              <a:t>    The </a:t>
            </a:r>
            <a:r>
              <a:rPr lang="en-IN" sz="1800" dirty="0" err="1">
                <a:solidFill>
                  <a:srgbClr val="000000"/>
                </a:solidFill>
                <a:effectLst/>
                <a:latin typeface="Times New Roman" panose="02020603050405020304" pitchFamily="18" charset="0"/>
              </a:rPr>
              <a:t>Servo.h</a:t>
            </a:r>
            <a:r>
              <a:rPr lang="en-IN" sz="1800" dirty="0">
                <a:solidFill>
                  <a:srgbClr val="000000"/>
                </a:solidFill>
                <a:effectLst/>
                <a:latin typeface="Times New Roman" panose="02020603050405020304" pitchFamily="18" charset="0"/>
              </a:rPr>
              <a:t> library is crucial for controlling servo motors, such as those used for rotating </a:t>
            </a:r>
            <a:endParaRPr lang="en-IN" dirty="0"/>
          </a:p>
          <a:p>
            <a:pPr algn="just"/>
            <a:r>
              <a:rPr lang="en-IN" sz="1800" dirty="0">
                <a:solidFill>
                  <a:srgbClr val="000000"/>
                </a:solidFill>
                <a:effectLst/>
                <a:latin typeface="Times New Roman" panose="02020603050405020304" pitchFamily="18" charset="0"/>
              </a:rPr>
              <a:t>    ultrasonic sensors. It enables precise angular movement using PWM signals. </a:t>
            </a:r>
            <a:endParaRPr lang="en-IN" dirty="0"/>
          </a:p>
          <a:p>
            <a:pPr marL="285750" indent="-285750" algn="just">
              <a:buFont typeface="Wingdings" panose="05000000000000000000" pitchFamily="2" charset="2"/>
              <a:buChar char="Ø"/>
            </a:pPr>
            <a:r>
              <a:rPr lang="en-IN" sz="1800" b="1" dirty="0" err="1">
                <a:solidFill>
                  <a:srgbClr val="000000"/>
                </a:solidFill>
                <a:effectLst/>
                <a:latin typeface="TimesNewRomanPS-BoldMT"/>
              </a:rPr>
              <a:t>NewPing</a:t>
            </a:r>
            <a:r>
              <a:rPr lang="en-IN" sz="1800" b="1" dirty="0">
                <a:solidFill>
                  <a:srgbClr val="000000"/>
                </a:solidFill>
                <a:effectLst/>
                <a:latin typeface="TimesNewRomanPS-BoldMT"/>
              </a:rPr>
              <a:t> Library (Ultrasonic Sensor) </a:t>
            </a:r>
            <a:endParaRPr lang="en-IN" dirty="0"/>
          </a:p>
          <a:p>
            <a:pPr algn="just"/>
            <a:r>
              <a:rPr lang="en-IN" sz="1800" dirty="0">
                <a:solidFill>
                  <a:srgbClr val="000000"/>
                </a:solidFill>
                <a:effectLst/>
                <a:latin typeface="Times New Roman" panose="02020603050405020304" pitchFamily="18" charset="0"/>
              </a:rPr>
              <a:t>    The </a:t>
            </a:r>
            <a:r>
              <a:rPr lang="en-IN" sz="1800" dirty="0" err="1">
                <a:solidFill>
                  <a:srgbClr val="000000"/>
                </a:solidFill>
                <a:effectLst/>
                <a:latin typeface="Times New Roman" panose="02020603050405020304" pitchFamily="18" charset="0"/>
              </a:rPr>
              <a:t>NewPing</a:t>
            </a:r>
            <a:r>
              <a:rPr lang="en-IN" sz="1800" dirty="0">
                <a:solidFill>
                  <a:srgbClr val="000000"/>
                </a:solidFill>
                <a:effectLst/>
                <a:latin typeface="Times New Roman" panose="02020603050405020304" pitchFamily="18" charset="0"/>
              </a:rPr>
              <a:t> library simplifies interfacing with the HC-SR04 ultrasonic sensor,             providing more accurate distance measurement and reducing signal noise. </a:t>
            </a:r>
            <a:endParaRPr lang="en-IN" dirty="0"/>
          </a:p>
          <a:p>
            <a:pPr marL="285750" indent="-285750" algn="just">
              <a:buFont typeface="Wingdings" panose="05000000000000000000" pitchFamily="2" charset="2"/>
              <a:buChar char="Ø"/>
            </a:pPr>
            <a:r>
              <a:rPr lang="en-IN" sz="1800" b="1" dirty="0">
                <a:solidFill>
                  <a:srgbClr val="000000"/>
                </a:solidFill>
                <a:effectLst/>
                <a:latin typeface="TimesNewRomanPS-BoldMT"/>
              </a:rPr>
              <a:t>Arduino IDE and Programming Resources </a:t>
            </a:r>
            <a:endParaRPr lang="en-IN" dirty="0"/>
          </a:p>
          <a:p>
            <a:pPr algn="just"/>
            <a:r>
              <a:rPr lang="en-IN" sz="1800" dirty="0">
                <a:solidFill>
                  <a:srgbClr val="000000"/>
                </a:solidFill>
                <a:effectLst/>
                <a:latin typeface="Times New Roman" panose="02020603050405020304" pitchFamily="18" charset="0"/>
              </a:rPr>
              <a:t>     The official Arduino IDE and reference documentation provide essential guidance on </a:t>
            </a:r>
            <a:endParaRPr lang="en-IN" dirty="0"/>
          </a:p>
          <a:p>
            <a:pPr algn="just"/>
            <a:r>
              <a:rPr lang="en-IN" sz="1800" dirty="0">
                <a:solidFill>
                  <a:srgbClr val="000000"/>
                </a:solidFill>
                <a:effectLst/>
                <a:latin typeface="Times New Roman" panose="02020603050405020304" pitchFamily="18" charset="0"/>
              </a:rPr>
              <a:t>     writing and uploading code for obstacle-avoidance robots</a:t>
            </a:r>
            <a:endParaRPr lang="en-IN" dirty="0"/>
          </a:p>
        </p:txBody>
      </p:sp>
    </p:spTree>
    <p:extLst>
      <p:ext uri="{BB962C8B-B14F-4D97-AF65-F5344CB8AC3E}">
        <p14:creationId xmlns:p14="http://schemas.microsoft.com/office/powerpoint/2010/main" val="2266994734"/>
      </p:ext>
    </p:extLst>
  </p:cSld>
  <p:clrMapOvr>
    <a:masterClrMapping/>
  </p:clrMapOvr>
  <p:transition spd="med">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71418-53F5-DE20-5216-808EA3457C7C}"/>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95B557C8-B918-0CC1-EC9A-323B2A719436}"/>
              </a:ext>
            </a:extLst>
          </p:cNvPr>
          <p:cNvSpPr>
            <a:spLocks noGrp="1"/>
          </p:cNvSpPr>
          <p:nvPr>
            <p:ph type="subTitle" idx="1"/>
          </p:nvPr>
        </p:nvSpPr>
        <p:spPr/>
        <p:txBody>
          <a:bodyPr/>
          <a:lstStyle/>
          <a:p>
            <a:endParaRPr lang="en-IN"/>
          </a:p>
        </p:txBody>
      </p:sp>
      <p:pic>
        <p:nvPicPr>
          <p:cNvPr id="7" name="Picture 6">
            <a:extLst>
              <a:ext uri="{FF2B5EF4-FFF2-40B4-BE49-F238E27FC236}">
                <a16:creationId xmlns:a16="http://schemas.microsoft.com/office/drawing/2014/main" id="{03C1F0B8-AD4A-9FDC-3409-14B8337CCC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883951100"/>
      </p:ext>
    </p:extLst>
  </p:cSld>
  <p:clrMapOvr>
    <a:masterClrMapping/>
  </p:clrMapOvr>
  <p:transition spd="med">
    <p:pull/>
  </p:transition>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8991</TotalTime>
  <Words>1961</Words>
  <Application>Microsoft Office PowerPoint</Application>
  <PresentationFormat>Widescreen</PresentationFormat>
  <Paragraphs>201</Paragraphs>
  <Slides>21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Aptos</vt:lpstr>
      <vt:lpstr>Arial</vt:lpstr>
      <vt:lpstr>Calibri</vt:lpstr>
      <vt:lpstr>Calibri Light</vt:lpstr>
      <vt:lpstr>Times New Roman</vt:lpstr>
      <vt:lpstr>TimesNewRomanPS-BoldMT</vt:lpstr>
      <vt:lpstr>Wingdings</vt:lpstr>
      <vt:lpstr>Office 2013 - 2022 Theme</vt:lpstr>
      <vt:lpstr>Department of CSE – (IoT &amp; CSBT)</vt:lpstr>
      <vt:lpstr>Contents</vt:lpstr>
      <vt:lpstr>Introduction</vt:lpstr>
      <vt:lpstr>Literature survey  </vt:lpstr>
      <vt:lpstr>Proposed system  </vt:lpstr>
      <vt:lpstr>Objectives</vt:lpstr>
      <vt:lpstr>Motivation</vt:lpstr>
      <vt:lpstr>Challenges</vt:lpstr>
      <vt:lpstr>Applications </vt:lpstr>
      <vt:lpstr>Hardware and Software Requirements </vt:lpstr>
      <vt:lpstr>PowerPoint Presentation</vt:lpstr>
      <vt:lpstr>Algorithm Used  </vt:lpstr>
      <vt:lpstr>Use case diagram </vt:lpstr>
      <vt:lpstr>Sequence diagram </vt:lpstr>
      <vt:lpstr>Implementation </vt:lpstr>
      <vt:lpstr>PowerPoint Presentation</vt:lpstr>
      <vt:lpstr>Results </vt:lpstr>
      <vt:lpstr>Result Analysis </vt:lpstr>
      <vt:lpstr>Conclusion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Prof. Sandeep</dc:creator>
  <cp:lastModifiedBy>Kushitha V</cp:lastModifiedBy>
  <cp:revision>326</cp:revision>
  <dcterms:created xsi:type="dcterms:W3CDTF">2020-08-31T05:52:39Z</dcterms:created>
  <dcterms:modified xsi:type="dcterms:W3CDTF">2025-11-30T14:48:35Z</dcterms:modified>
</cp:coreProperties>
</file>